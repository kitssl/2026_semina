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7"/>
  </p:notesMasterIdLst>
  <p:handoutMasterIdLst>
    <p:handoutMasterId r:id="rId28"/>
  </p:handoutMasterIdLst>
  <p:sldIdLst>
    <p:sldId id="256" r:id="rId2"/>
    <p:sldId id="459" r:id="rId3"/>
    <p:sldId id="460" r:id="rId4"/>
    <p:sldId id="461" r:id="rId5"/>
    <p:sldId id="463" r:id="rId6"/>
    <p:sldId id="464" r:id="rId7"/>
    <p:sldId id="465" r:id="rId8"/>
    <p:sldId id="440" r:id="rId9"/>
    <p:sldId id="466" r:id="rId10"/>
    <p:sldId id="462" r:id="rId11"/>
    <p:sldId id="468" r:id="rId12"/>
    <p:sldId id="469" r:id="rId13"/>
    <p:sldId id="476" r:id="rId14"/>
    <p:sldId id="475" r:id="rId15"/>
    <p:sldId id="482" r:id="rId16"/>
    <p:sldId id="470" r:id="rId17"/>
    <p:sldId id="478" r:id="rId18"/>
    <p:sldId id="479" r:id="rId19"/>
    <p:sldId id="480" r:id="rId20"/>
    <p:sldId id="472" r:id="rId21"/>
    <p:sldId id="473" r:id="rId22"/>
    <p:sldId id="467" r:id="rId23"/>
    <p:sldId id="483" r:id="rId24"/>
    <p:sldId id="287" r:id="rId25"/>
    <p:sldId id="481" r:id="rId26"/>
  </p:sldIdLst>
  <p:sldSz cx="9144000" cy="5143500" type="screen16x9"/>
  <p:notesSz cx="6858000" cy="9144000"/>
  <p:embeddedFontLst>
    <p:embeddedFont>
      <p:font typeface="Cascadia Mono" panose="020B0609020000020004" pitchFamily="49" charset="0"/>
      <p:regular r:id="rId29"/>
      <p:bold r:id="rId30"/>
      <p:italic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Medium" panose="00000600000000000000" pitchFamily="2" charset="0"/>
      <p:regular r:id="rId37"/>
      <p:bold r:id="rId38"/>
      <p:italic r:id="rId39"/>
      <p:boldItalic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페이퍼로지 1 Thin" pitchFamily="2" charset="-127"/>
      <p:regular r:id="rId43"/>
    </p:embeddedFont>
    <p:embeddedFont>
      <p:font typeface="페이퍼로지 2 ExtraLight" pitchFamily="2" charset="-127"/>
      <p:regular r:id="rId44"/>
    </p:embeddedFont>
    <p:embeddedFont>
      <p:font typeface="페이퍼로지 3 Light" pitchFamily="2" charset="-127"/>
      <p:regular r:id="rId45"/>
    </p:embeddedFont>
    <p:embeddedFont>
      <p:font typeface="페이퍼로지 4 Regular" pitchFamily="2" charset="-127"/>
      <p:regular r:id="rId46"/>
    </p:embeddedFont>
    <p:embeddedFont>
      <p:font typeface="페이퍼로지 6 SemiBold" pitchFamily="2" charset="-127"/>
      <p:bold r:id="rId47"/>
    </p:embeddedFont>
    <p:embeddedFont>
      <p:font typeface="페이퍼로지 7 Bold" pitchFamily="2" charset="-127"/>
      <p:bold r:id="rId48"/>
    </p:embeddedFont>
    <p:embeddedFont>
      <p:font typeface="페이퍼로지 9 Black" pitchFamily="2" charset="-127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E7DCC256-4942-4A3A-BC96-E5B114D737C5}">
          <p14:sldIdLst>
            <p14:sldId id="256"/>
            <p14:sldId id="459"/>
            <p14:sldId id="460"/>
            <p14:sldId id="461"/>
            <p14:sldId id="463"/>
            <p14:sldId id="464"/>
            <p14:sldId id="465"/>
            <p14:sldId id="440"/>
            <p14:sldId id="466"/>
            <p14:sldId id="462"/>
            <p14:sldId id="468"/>
            <p14:sldId id="469"/>
            <p14:sldId id="476"/>
            <p14:sldId id="475"/>
            <p14:sldId id="482"/>
            <p14:sldId id="470"/>
            <p14:sldId id="478"/>
            <p14:sldId id="479"/>
            <p14:sldId id="480"/>
            <p14:sldId id="472"/>
            <p14:sldId id="473"/>
            <p14:sldId id="467"/>
            <p14:sldId id="483"/>
            <p14:sldId id="287"/>
            <p14:sldId id="4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7F7F7F"/>
    <a:srgbClr val="ECAE14"/>
    <a:srgbClr val="F79709"/>
    <a:srgbClr val="B8A848"/>
    <a:srgbClr val="B07202"/>
    <a:srgbClr val="8F981A"/>
    <a:srgbClr val="009900"/>
    <a:srgbClr val="FFFFFF"/>
    <a:srgbClr val="8DB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94660"/>
  </p:normalViewPr>
  <p:slideViewPr>
    <p:cSldViewPr snapToGrid="0">
      <p:cViewPr varScale="1">
        <p:scale>
          <a:sx n="201" d="100"/>
          <a:sy n="201" d="100"/>
        </p:scale>
        <p:origin x="10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4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49" Type="http://schemas.openxmlformats.org/officeDocument/2006/relationships/font" Target="fonts/font2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96BA54-76DD-97D0-723B-93E58C23F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26CAB7-3D10-74C1-97A8-276C8A15A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FC47D-9FCC-480E-ACDF-9F506E69D146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20443-FF7E-3452-D7B5-37E318E829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7ECD07-0052-F663-1216-4F818797AE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0669-782A-4696-96B0-7F8C74B21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9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7CC908-24B1-4C22-F198-939F9BE0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E30B274-BAAB-7C57-730A-3C701D528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BE3BA19-EB4E-4E69-B6C8-11B2E5926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04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C254840-8CB9-BF86-CA82-E704453A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7642233-E37F-CF9B-9398-66C6A383D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74F1BC6-FD3A-27C2-2FBC-5C1053C1F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815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E9F5408-7AD3-2AFB-B7E9-5EA178EF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260B99F-23B7-9D28-74D7-8B32C48E5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24A9B4E-8E38-06DA-50CC-98E7CF3F9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334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6B6561D-4610-CC9B-C575-6DADCD21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A35F3BC-E923-035E-8F2E-D732D1463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6064C66-498C-28E6-D35B-D0DEE505B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838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6B49B43-3637-78C7-2FFA-D03A2A5D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39C8ECCB-81D0-0861-9A07-6267990D6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9FC3588-C025-DC32-A739-4236F987A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999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367D69D-1F56-F80B-E11B-AE28E0C3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23196DA-475A-E9B5-76E2-170D2037E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1D6F352-01D0-2361-AB67-FF4D8471A0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444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F6EF1CB-FE2D-4E9B-B4B3-70B98CE3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1962E37-4BAD-245A-B152-BDEA20731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9F8BF98-A06D-EC92-698E-F32FD13FF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https://chromium.googlesource.com/chromium/src/+/HEAD/chrome/elevation_service/elevator.cc#74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6577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0E0FEAA-0B76-683F-CA86-9A3A94A9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FC554F4-D897-63DB-6FB6-646CD01EF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004473B-58EA-67F6-37D4-9D9AF03D9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802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D32C85E-34C8-53E1-3EB0-D458467F1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2C7B937-B23A-FBBA-5366-14F4DFA4D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8E38E33-61F0-00A5-83B5-B72AC570C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6CCA16B-FB92-50C9-600A-85F0CA0F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18CA59F-AAB9-1FBB-D1CE-28E6557E7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0F19C5F-2156-7BCD-6668-EA7D24E319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318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AE7ED18-62E7-4971-229C-4E26EC39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3120B35D-3AC0-3A47-0BC0-A857E0F68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D20A7EC-E39B-19D1-ADAD-592740203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933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501198F-6F1D-AFB4-3518-59B40BA3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4F76487-62CD-476A-E42B-B56D11B3E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BA29FD8-F526-8BC9-601E-6A744EE7D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484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29691CC-B0AD-5132-8ECC-E75A18F58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9A6F5459-7622-B9A3-8CA7-25DF8022E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2043D75-0F77-DCF2-703D-714F6D866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513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666D2E7-241F-EDD5-BF5E-AA75F1C6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7197A99-8FC8-7C8B-DF3C-9B5B1F4A5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B061545-EC3A-8EAE-E04D-1C3534EAA7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642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FFB7033-E08E-9BEC-7A07-E91AA22A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AB88111-8C1E-7BD7-065B-DA3075F1C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8AF8010-389F-E5A1-F4D9-E82454DFB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915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75CA185-CACB-412F-AC3D-CDC555C5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4B47C5E-72CB-3A30-A6F1-D397F0D1F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39C23A2-7F84-633C-0742-14DCE6CC31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8870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FE91826-BD8D-2095-2DDF-DE154565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7B28092-FE35-3E4D-3846-515AE4A4C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68CDD2D-0BB6-5D79-7F4C-B241F17E4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7171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C61A8E2-9958-06BE-8C1F-89915F8D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F43A05C-12B9-82D4-7EDC-A4B959CF7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11B6E02-CCAA-711F-12E3-36FBF0D54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8971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4F38C27-54EB-C84D-1148-1D6E3CA4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6E6E7C6-DC75-1B39-FA84-4A4E33756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9636F2F-BF30-188A-8E47-5C185EE07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434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7FE5D5F-C21D-89DE-7657-92BEFE62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F33FF368-217B-76D1-E2B6-A8952AA64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BCC99FF-2C03-3F37-4FFB-476BB3F06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050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750C9CA-B116-85BC-FCFB-85C871AF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EB1FB72-5A8B-80A9-D45B-A507F51DA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95BDB18-47A3-B03C-1FDA-9E401D04F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207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DA52EF9-8D22-A701-A941-0AFC9596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CC9A45F-5D53-2A02-BF76-2F4D63F55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2E8A5EC-15A4-9CDB-9578-4320AFE64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7912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F015B6A-46EB-39F3-9521-3BDB4797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5F60580-51D1-1369-D86F-98333A21D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2C51A8D-0DA6-DBE3-43F3-7D3DAC6D2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130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6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6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1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1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6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1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1" y="1307101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1" y="36742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1" y="1348751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1" y="2285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1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1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2552" y="1096600"/>
            <a:ext cx="8238900" cy="38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/>
              <a:t>dd</a:t>
            </a:r>
          </a:p>
          <a:p>
            <a:r>
              <a:rPr lang="en-US"/>
              <a:t>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82563" marR="0" lvl="0" indent="-30163" algn="l" defTabSz="360000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tabLst>
          <a:tab pos="180000" algn="l"/>
          <a:tab pos="270000" algn="l"/>
          <a:tab pos="630000" algn="l"/>
        </a:tabLst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609600" marR="0" lvl="1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66800" marR="0" lvl="2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1524000" marR="0" lvl="3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1981200" marR="0" lvl="4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L="2438400" marR="0" lvl="5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aitax/Chrome-App-Bound-Encryption-Decryption/blob/main/tools/comrade_abe.py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hyperlink" Target="https://github.com/The-Viper-One/Invoke-PowerChrome/blob/main/Invoke-PowerChrome.ps1" TargetMode="External"/><Relationship Id="rId4" Type="http://schemas.openxmlformats.org/officeDocument/2006/relationships/hyperlink" Target="https://github.com/runassu/chrome_v20_decrypti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wonpark-sec/Google-Chrome-Login-Data-Decryption-password_value-cookies-/tree/main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6" y="1792800"/>
            <a:ext cx="7668231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ko-KR" altLang="en-US" sz="6000"/>
              <a:t>그래</a:t>
            </a:r>
            <a:r>
              <a:rPr lang="en-US" altLang="ko-KR" sz="6000"/>
              <a:t>. </a:t>
            </a:r>
            <a:r>
              <a:rPr lang="ko-KR" altLang="en-US" sz="6000"/>
              <a:t>함 해보자</a:t>
            </a:r>
            <a:r>
              <a:rPr lang="en-US" altLang="ko-KR" sz="6000"/>
              <a:t>..</a:t>
            </a:r>
            <a:endParaRPr sz="6000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2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6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3F4E645-8E5D-0885-38BE-B0E0D86A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B77ABFA-72A5-398F-ABC1-A0FA5FA8093E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세미나 발표의 원래 흐름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Malware Analysis.. (Reversing)</a:t>
            </a: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endParaRPr lang="en-US" altLang="ko-KR" sz="9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 Chrome Password En/Decryption Flow...</a:t>
            </a: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endParaRPr lang="en-US" altLang="ko-KR" sz="9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Goal: Local password_value decryption</a:t>
            </a: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endParaRPr lang="en-US" altLang="ko-KR" sz="9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How to?</a:t>
            </a: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endParaRPr lang="en-US" altLang="ko-KR" sz="9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Let's get it..</a:t>
            </a: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endParaRPr lang="en-US" altLang="ko-KR" sz="9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 https://github.com/xaitax/Chrome-App-Bound-Encryption-Decryption/blob/main/tools/comrade_abe.py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근데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</a:p>
          <a:p>
            <a:pPr lvl="2" defTabSz="180000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COM?</a:t>
            </a: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endParaRPr lang="en-US" altLang="ko-KR" sz="10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Let's get it.........</a:t>
            </a: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endParaRPr lang="en-US" altLang="ko-KR" sz="10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04812" lvl="2" indent="-228600" defTabSz="180000">
              <a:buSzPct val="100000"/>
              <a:buFont typeface="+mj-lt"/>
              <a:buAutoNum type="arabicPeriod"/>
            </a:pP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COM..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발표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정신 차려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!</a:t>
            </a:r>
          </a:p>
          <a:p>
            <a:pPr lvl="2" defTabSz="180000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82563" defTabSz="180000">
              <a:buSzPct val="100000"/>
              <a:buFont typeface="+mj-lt"/>
              <a:buAutoNum type="arabicPeriod"/>
            </a:pP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Let's get it..............................</a:t>
            </a:r>
          </a:p>
          <a:p>
            <a:pPr marL="358775" lvl="2" indent="-182563" defTabSz="180000">
              <a:buSzPct val="100000"/>
              <a:buFont typeface="+mj-lt"/>
              <a:buAutoNum type="arabicPeriod"/>
            </a:pPr>
            <a:endParaRPr lang="en-US" altLang="ko-KR" sz="10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82563" defTabSz="180000">
              <a:buSzPct val="100000"/>
              <a:buFont typeface="+mj-lt"/>
              <a:buAutoNum type="arabicPeriod"/>
            </a:pP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How to?</a:t>
            </a:r>
          </a:p>
          <a:p>
            <a:pPr marL="358775" lvl="2" indent="-182563" defTabSz="180000">
              <a:buSzPct val="100000"/>
              <a:buFont typeface="+mj-lt"/>
              <a:buAutoNum type="arabicPeriod"/>
            </a:pPr>
            <a:endParaRPr lang="en-US" altLang="ko-KR" sz="1000">
              <a:solidFill>
                <a:schemeClr val="bg2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82563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 https://github.com/runassu/chrome_v20_decryption</a:t>
            </a:r>
            <a:endParaRPr lang="en-US" altLang="ko-KR" sz="900">
              <a:solidFill>
                <a:srgbClr val="00B0F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82563" defTabSz="180000">
              <a:buSzPct val="100000"/>
              <a:buFont typeface="+mj-lt"/>
              <a:buAutoNum type="arabicPeriod"/>
            </a:pPr>
            <a:endParaRPr lang="en-US" altLang="ko-KR" sz="900">
              <a:solidFill>
                <a:srgbClr val="00B0F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82563" defTabSz="180000">
              <a:buSzPct val="100000"/>
              <a:buFont typeface="+mj-lt"/>
              <a:buAutoNum type="arabicPeriod"/>
            </a:pPr>
            <a:r>
              <a:rPr lang="en-US" altLang="ko-KR" sz="9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 https://github.com/The-Viper-One/Invoke-PowerChrome/blob/main/Invoke-PowerChrome.ps1</a:t>
            </a:r>
            <a:endParaRPr lang="en-US" altLang="ko-KR" sz="900">
              <a:solidFill>
                <a:srgbClr val="00B0F0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6212" lvl="2" defTabSz="180000">
              <a:buSzPct val="100000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03CA392-038B-93CA-1B4F-20999BA4BD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960A2-809A-F2D4-B015-BED1F94B0739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AF14C6C-5923-5D5E-5720-C09B80321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9553" y="1018609"/>
            <a:ext cx="3038087" cy="25238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F4577B1-2D4C-96C7-244A-9A921191F2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553" y="3815997"/>
            <a:ext cx="2893254" cy="9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6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0FF689E-7FD5-C1DE-1C4C-C86EC7E3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222177B-A56E-4C77-AFB5-824D47172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sz="1600"/>
              <a:t>Rewind &amp; Update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40C66B7-F9E7-E47F-1B44-CCDC6ABC7301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6D2BFF1-7247-FD8E-DF22-B457D5329AEE}"/>
              </a:ext>
            </a:extLst>
          </p:cNvPr>
          <p:cNvSpPr/>
          <p:nvPr/>
        </p:nvSpPr>
        <p:spPr>
          <a:xfrm>
            <a:off x="1079509" y="2991413"/>
            <a:ext cx="1938873" cy="36547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app_bound_encrypted_key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A0B5B9-3354-4249-56D0-7951888A2716}"/>
              </a:ext>
            </a:extLst>
          </p:cNvPr>
          <p:cNvSpPr/>
          <p:nvPr/>
        </p:nvSpPr>
        <p:spPr>
          <a:xfrm>
            <a:off x="936195" y="2908424"/>
            <a:ext cx="2198407" cy="531449"/>
          </a:xfrm>
          <a:prstGeom prst="roundRect">
            <a:avLst/>
          </a:prstGeom>
          <a:noFill/>
          <a:ln>
            <a:solidFill>
              <a:srgbClr val="ECAE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977310-9269-FC4C-05DF-A1BBB7959B5A}"/>
              </a:ext>
            </a:extLst>
          </p:cNvPr>
          <p:cNvSpPr/>
          <p:nvPr/>
        </p:nvSpPr>
        <p:spPr>
          <a:xfrm>
            <a:off x="816111" y="2817083"/>
            <a:ext cx="2418248" cy="7073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ED47D69-8086-0C36-D899-B6536745D338}"/>
              </a:ext>
            </a:extLst>
          </p:cNvPr>
          <p:cNvSpPr/>
          <p:nvPr/>
        </p:nvSpPr>
        <p:spPr>
          <a:xfrm>
            <a:off x="1055798" y="2037913"/>
            <a:ext cx="1938873" cy="402023"/>
          </a:xfrm>
          <a:prstGeom prst="round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decode: base64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remove: "APPB" prefix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D740A08-96E7-AB3B-0095-6E0D0E3BD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96" y="992149"/>
            <a:ext cx="2244675" cy="701809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1E3E3DF-5A6A-B0D5-925E-48EA23617D13}"/>
              </a:ext>
            </a:extLst>
          </p:cNvPr>
          <p:cNvSpPr/>
          <p:nvPr/>
        </p:nvSpPr>
        <p:spPr>
          <a:xfrm>
            <a:off x="3781963" y="3778126"/>
            <a:ext cx="2154773" cy="971974"/>
          </a:xfrm>
          <a:prstGeom prst="roundRect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Windows CNG</a:t>
            </a:r>
          </a:p>
          <a:p>
            <a:pPr algn="ctr"/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with. Google "ChromeKey1"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B02DA21-0C5F-98AA-4997-EE2A96FD3C1A}"/>
              </a:ext>
            </a:extLst>
          </p:cNvPr>
          <p:cNvCxnSpPr>
            <a:stCxn id="11" idx="2"/>
            <a:endCxn id="9" idx="0"/>
          </p:cNvCxnSpPr>
          <p:nvPr/>
        </p:nvCxnSpPr>
        <p:spPr>
          <a:xfrm>
            <a:off x="2025234" y="1693958"/>
            <a:ext cx="1" cy="343955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D036B1A-96CB-D94C-7863-7FDE3706E227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2025235" y="2439936"/>
            <a:ext cx="0" cy="377147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4C74EF7-C164-D7D0-92BD-6BCDA9138392}"/>
              </a:ext>
            </a:extLst>
          </p:cNvPr>
          <p:cNvSpPr/>
          <p:nvPr/>
        </p:nvSpPr>
        <p:spPr>
          <a:xfrm>
            <a:off x="1059190" y="4081376"/>
            <a:ext cx="1938873" cy="365475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encrypted_aes_key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296792A-EE00-FA8A-8CE2-AF2DB9123FD6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2025235" y="3524441"/>
            <a:ext cx="3392" cy="556935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6723492-514B-5D28-34F0-DE3F85C011B3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2998063" y="4264113"/>
            <a:ext cx="783900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9433005-31A7-983A-6E43-03AF9CC5ACE8}"/>
              </a:ext>
            </a:extLst>
          </p:cNvPr>
          <p:cNvCxnSpPr>
            <a:cxnSpLocks/>
            <a:stCxn id="15" idx="0"/>
            <a:endCxn id="37" idx="2"/>
          </p:cNvCxnSpPr>
          <p:nvPr/>
        </p:nvCxnSpPr>
        <p:spPr>
          <a:xfrm flipH="1" flipV="1">
            <a:off x="4859349" y="3165664"/>
            <a:ext cx="1" cy="61246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0B4F6E5-0CAA-D2E3-58F6-8AF14D6F9FF3}"/>
              </a:ext>
            </a:extLst>
          </p:cNvPr>
          <p:cNvSpPr/>
          <p:nvPr/>
        </p:nvSpPr>
        <p:spPr>
          <a:xfrm>
            <a:off x="3889912" y="2800189"/>
            <a:ext cx="1938873" cy="365475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decrypted_aes_key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1C963A1-4859-1E55-E0E8-C4A83C622214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4859349" y="2063725"/>
            <a:ext cx="1160104" cy="73646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CF75FA4-4E09-149B-C477-9091745309FB}"/>
              </a:ext>
            </a:extLst>
          </p:cNvPr>
          <p:cNvSpPr/>
          <p:nvPr/>
        </p:nvSpPr>
        <p:spPr>
          <a:xfrm>
            <a:off x="6586240" y="2800188"/>
            <a:ext cx="1938873" cy="36547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xor_key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ECA55C0-5CC7-11A1-4631-9F32370BC160}"/>
              </a:ext>
            </a:extLst>
          </p:cNvPr>
          <p:cNvSpPr/>
          <p:nvPr/>
        </p:nvSpPr>
        <p:spPr>
          <a:xfrm>
            <a:off x="6478289" y="3778126"/>
            <a:ext cx="2154773" cy="971974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Google Chrome</a:t>
            </a:r>
          </a:p>
          <a:p>
            <a:pPr algn="ctr"/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Hardcoded bytes</a:t>
            </a:r>
            <a:br>
              <a:rPr lang="en-US" altLang="ko-KR" sz="1100"/>
            </a:br>
            <a:r>
              <a:rPr lang="en-US" altLang="ko-KR" sz="900"/>
              <a:t>(chrome.dll? elevation_service.exe?)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2631D98-0253-51F2-9714-7B35170367D3}"/>
              </a:ext>
            </a:extLst>
          </p:cNvPr>
          <p:cNvCxnSpPr>
            <a:cxnSpLocks/>
          </p:cNvCxnSpPr>
          <p:nvPr/>
        </p:nvCxnSpPr>
        <p:spPr>
          <a:xfrm flipH="1" flipV="1">
            <a:off x="7555675" y="3185980"/>
            <a:ext cx="1" cy="61246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7C566B8-B115-6F17-D860-4B8BCFF86641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6345129" y="2063725"/>
            <a:ext cx="1210548" cy="736463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순서도: 논리합 52">
            <a:extLst>
              <a:ext uri="{FF2B5EF4-FFF2-40B4-BE49-F238E27FC236}">
                <a16:creationId xmlns:a16="http://schemas.microsoft.com/office/drawing/2014/main" id="{74081F27-30F4-5B8B-ED60-431098C5BA93}"/>
              </a:ext>
            </a:extLst>
          </p:cNvPr>
          <p:cNvSpPr/>
          <p:nvPr/>
        </p:nvSpPr>
        <p:spPr>
          <a:xfrm>
            <a:off x="6048566" y="1808248"/>
            <a:ext cx="267632" cy="229665"/>
          </a:xfrm>
          <a:prstGeom prst="flowChartOr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D1548A8-5A02-DCEB-FB86-04A23861DC56}"/>
              </a:ext>
            </a:extLst>
          </p:cNvPr>
          <p:cNvSpPr/>
          <p:nvPr/>
        </p:nvSpPr>
        <p:spPr>
          <a:xfrm>
            <a:off x="5212946" y="999899"/>
            <a:ext cx="1938873" cy="365475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v20_master_key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53C2FA7-D602-DF22-69FB-7779E4870E90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6182383" y="1365374"/>
            <a:ext cx="0" cy="32858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래픽 6" descr="배지 체크 표시1 단색으로 채워진">
            <a:extLst>
              <a:ext uri="{FF2B5EF4-FFF2-40B4-BE49-F238E27FC236}">
                <a16:creationId xmlns:a16="http://schemas.microsoft.com/office/drawing/2014/main" id="{50725E71-8907-643A-24D9-0EADE2BA61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4785" y="4437325"/>
            <a:ext cx="142875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0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  <p:bldP spid="6" grpId="0" animBg="1"/>
      <p:bldP spid="6" grpId="1" animBg="1"/>
      <p:bldP spid="9" grpId="0" animBg="1"/>
      <p:bldP spid="15" grpId="0" animBg="1"/>
      <p:bldP spid="26" grpId="0" animBg="1"/>
      <p:bldP spid="37" grpId="0" animBg="1"/>
      <p:bldP spid="44" grpId="0" animBg="1"/>
      <p:bldP spid="46" grpId="0" animBg="1"/>
      <p:bldP spid="53" grpId="0" animBg="1"/>
      <p:bldP spid="5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B2AAE9D-C96C-4C79-9935-53F9F16B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CB0B237-3F37-C194-F8CC-4DF52B42D746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E0E0971-DC87-5E44-4FBD-A98C6AFCD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Login</a:t>
            </a:r>
            <a:r>
              <a:rPr lang="ko-KR" altLang="en-US" sz="1600"/>
              <a:t> </a:t>
            </a:r>
            <a:r>
              <a:rPr lang="en-US" altLang="ko-KR" sz="1600"/>
              <a:t>Data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B08BDE3-B01F-B44A-0928-4F434D1E48E5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CB5D0FB-E0B6-01F5-C3D9-8897B4FDF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393" y="745066"/>
            <a:ext cx="3983373" cy="4277417"/>
          </a:xfrm>
          <a:prstGeom prst="rect">
            <a:avLst/>
          </a:prstGeom>
          <a:ln w="12700">
            <a:solidFill>
              <a:srgbClr val="9933FF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EA405B6-F14F-FBEC-5ADB-B07C52D7C3DA}"/>
              </a:ext>
            </a:extLst>
          </p:cNvPr>
          <p:cNvSpPr/>
          <p:nvPr/>
        </p:nvSpPr>
        <p:spPr>
          <a:xfrm>
            <a:off x="2749973" y="1564640"/>
            <a:ext cx="1584960" cy="2614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EFD85C-370C-6FB6-5AEC-BB1723A1AAC2}"/>
              </a:ext>
            </a:extLst>
          </p:cNvPr>
          <p:cNvSpPr/>
          <p:nvPr/>
        </p:nvSpPr>
        <p:spPr>
          <a:xfrm>
            <a:off x="2838027" y="1639147"/>
            <a:ext cx="433493" cy="12192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8E5A57-3251-EABE-E16C-6677CB1E74A0}"/>
              </a:ext>
            </a:extLst>
          </p:cNvPr>
          <p:cNvSpPr/>
          <p:nvPr/>
        </p:nvSpPr>
        <p:spPr>
          <a:xfrm>
            <a:off x="2838027" y="2032000"/>
            <a:ext cx="616374" cy="12192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00943E-98D7-A489-B95A-14F97CBC53E9}"/>
              </a:ext>
            </a:extLst>
          </p:cNvPr>
          <p:cNvSpPr/>
          <p:nvPr/>
        </p:nvSpPr>
        <p:spPr>
          <a:xfrm>
            <a:off x="2838027" y="1874905"/>
            <a:ext cx="616374" cy="12192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DB7C84D-BE6B-79B8-5F1D-0B24B4557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204" y="203496"/>
            <a:ext cx="1160234" cy="25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5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A3E4CD7-7B4C-8273-FD2A-016687DF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E44EFAE-608F-B0C4-00D9-1087C1AAFD67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C3DA7EB-0DD8-7C29-A9AC-FE64CAF758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sz="1600"/>
              <a:t>Login Data logins table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3AA1A-EA01-9450-EEC5-5B906D8D597B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CE36DE1-8955-0C85-AB37-D1D794B61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928" y="745066"/>
            <a:ext cx="6500144" cy="4194938"/>
          </a:xfrm>
          <a:prstGeom prst="rect">
            <a:avLst/>
          </a:prstGeom>
          <a:ln w="12700">
            <a:solidFill>
              <a:srgbClr val="9933FF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5BFB10A-746D-0425-7EC7-A2FCD9464580}"/>
              </a:ext>
            </a:extLst>
          </p:cNvPr>
          <p:cNvSpPr/>
          <p:nvPr/>
        </p:nvSpPr>
        <p:spPr>
          <a:xfrm>
            <a:off x="2560321" y="860214"/>
            <a:ext cx="433493" cy="1219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80509C-76D2-4784-4E48-19AB3E2E1BBB}"/>
              </a:ext>
            </a:extLst>
          </p:cNvPr>
          <p:cNvSpPr/>
          <p:nvPr/>
        </p:nvSpPr>
        <p:spPr>
          <a:xfrm>
            <a:off x="4752915" y="860214"/>
            <a:ext cx="165841" cy="1219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E2D150-7C0A-156D-56E6-579118B51BD0}"/>
              </a:ext>
            </a:extLst>
          </p:cNvPr>
          <p:cNvSpPr/>
          <p:nvPr/>
        </p:nvSpPr>
        <p:spPr>
          <a:xfrm>
            <a:off x="4429106" y="860214"/>
            <a:ext cx="165840" cy="1219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C1055E-3B45-60A4-362A-78C8EDF51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204" y="203496"/>
            <a:ext cx="1160234" cy="25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5DBAD48-D53F-0B26-3DAB-0FEAE1A3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3D6AB8D-211E-F28D-40BA-1CFF5C7FACE9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80AE389-0CFE-42CA-DE4A-6573CAAFB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altLang="ko-KR" sz="1600"/>
              <a:t>Column: </a:t>
            </a:r>
            <a:r>
              <a:rPr lang="en-US" sz="1600"/>
              <a:t>password_value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94806C6-B47E-B324-CB0B-2CC27221ADA5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C7E37BC-C294-E4BD-391F-F6424E105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59" y="937204"/>
            <a:ext cx="5439534" cy="800212"/>
          </a:xfrm>
          <a:prstGeom prst="rect">
            <a:avLst/>
          </a:prstGeom>
          <a:ln w="12700">
            <a:solidFill>
              <a:srgbClr val="9933FF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F9EEA71-5298-FBB0-DC9A-2F67DA41A1D5}"/>
              </a:ext>
            </a:extLst>
          </p:cNvPr>
          <p:cNvSpPr/>
          <p:nvPr/>
        </p:nvSpPr>
        <p:spPr>
          <a:xfrm>
            <a:off x="2194561" y="1215390"/>
            <a:ext cx="670559" cy="1714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B14915-99A9-C93A-AE81-6811AC340673}"/>
              </a:ext>
            </a:extLst>
          </p:cNvPr>
          <p:cNvSpPr/>
          <p:nvPr/>
        </p:nvSpPr>
        <p:spPr>
          <a:xfrm>
            <a:off x="5943603" y="1215390"/>
            <a:ext cx="259078" cy="1714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CC24D5-8F05-1E00-2514-D4616F9E94E4}"/>
              </a:ext>
            </a:extLst>
          </p:cNvPr>
          <p:cNvSpPr/>
          <p:nvPr/>
        </p:nvSpPr>
        <p:spPr>
          <a:xfrm>
            <a:off x="2903220" y="1215390"/>
            <a:ext cx="2727960" cy="1714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E29D90-3F11-E9EA-7678-908BF3681A43}"/>
              </a:ext>
            </a:extLst>
          </p:cNvPr>
          <p:cNvSpPr/>
          <p:nvPr/>
        </p:nvSpPr>
        <p:spPr>
          <a:xfrm>
            <a:off x="2194560" y="1536294"/>
            <a:ext cx="2964182" cy="1409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48EE96-FF27-973A-B81B-4984F37C795B}"/>
              </a:ext>
            </a:extLst>
          </p:cNvPr>
          <p:cNvSpPr/>
          <p:nvPr/>
        </p:nvSpPr>
        <p:spPr>
          <a:xfrm>
            <a:off x="5158742" y="1371600"/>
            <a:ext cx="670559" cy="1714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F44C33-D1A4-D7EA-7012-FD31395F556B}"/>
              </a:ext>
            </a:extLst>
          </p:cNvPr>
          <p:cNvSpPr/>
          <p:nvPr/>
        </p:nvSpPr>
        <p:spPr>
          <a:xfrm>
            <a:off x="5631180" y="1219144"/>
            <a:ext cx="198121" cy="1600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CA7E1D-CA32-AF12-EF16-A3034E59C028}"/>
              </a:ext>
            </a:extLst>
          </p:cNvPr>
          <p:cNvSpPr/>
          <p:nvPr/>
        </p:nvSpPr>
        <p:spPr>
          <a:xfrm>
            <a:off x="2194560" y="1379220"/>
            <a:ext cx="2964182" cy="1714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E3A86B1-4E50-7565-C961-0A7C5A641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82559"/>
              </p:ext>
            </p:extLst>
          </p:nvPr>
        </p:nvGraphicFramePr>
        <p:xfrm>
          <a:off x="1792259" y="2330450"/>
          <a:ext cx="5439536" cy="35941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912841">
                  <a:extLst>
                    <a:ext uri="{9D8B030D-6E8A-4147-A177-3AD203B41FA5}">
                      <a16:colId xmlns:a16="http://schemas.microsoft.com/office/drawing/2014/main" val="13377426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603739087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4221996166"/>
                    </a:ext>
                  </a:extLst>
                </a:gridCol>
                <a:gridCol w="1333915">
                  <a:extLst>
                    <a:ext uri="{9D8B030D-6E8A-4147-A177-3AD203B41FA5}">
                      <a16:colId xmlns:a16="http://schemas.microsoft.com/office/drawing/2014/main" val="3216047957"/>
                    </a:ext>
                  </a:extLst>
                </a:gridCol>
              </a:tblGrid>
              <a:tr h="359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3 Light" pitchFamily="2" charset="-127"/>
                          <a:ea typeface="페이퍼로지 3 Light" pitchFamily="2" charset="-127"/>
                        </a:rPr>
                        <a:t>Flag(3)</a:t>
                      </a:r>
                      <a:endParaRPr lang="ko-KR" altLang="en-US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3 Light" pitchFamily="2" charset="-127"/>
                          <a:ea typeface="페이퍼로지 3 Light" pitchFamily="2" charset="-127"/>
                        </a:rPr>
                        <a:t>IV(12)</a:t>
                      </a:r>
                      <a:endParaRPr lang="ko-KR" altLang="en-US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3 Light" pitchFamily="2" charset="-127"/>
                          <a:ea typeface="페이퍼로지 3 Light" pitchFamily="2" charset="-127"/>
                        </a:rPr>
                        <a:t>Ciphertext(var)</a:t>
                      </a:r>
                      <a:endParaRPr lang="ko-KR" altLang="en-US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페이퍼로지 3 Light" pitchFamily="2" charset="-127"/>
                          <a:ea typeface="페이퍼로지 3 Light" pitchFamily="2" charset="-127"/>
                        </a:rPr>
                        <a:t>Tag(16)</a:t>
                      </a:r>
                      <a:endParaRPr lang="ko-KR" altLang="en-US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95034"/>
                  </a:ext>
                </a:extLst>
              </a:tr>
            </a:tbl>
          </a:graphicData>
        </a:graphic>
      </p:graphicFrame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83CB13D-F75D-B74C-CE2C-B937765D1C14}"/>
              </a:ext>
            </a:extLst>
          </p:cNvPr>
          <p:cNvCxnSpPr>
            <a:cxnSpLocks/>
          </p:cNvCxnSpPr>
          <p:nvPr/>
        </p:nvCxnSpPr>
        <p:spPr>
          <a:xfrm flipH="1">
            <a:off x="4572000" y="2689860"/>
            <a:ext cx="304800" cy="63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FA8876-DE5E-601F-0933-92223AA18D37}"/>
              </a:ext>
            </a:extLst>
          </p:cNvPr>
          <p:cNvSpPr txBox="1"/>
          <p:nvPr/>
        </p:nvSpPr>
        <p:spPr>
          <a:xfrm>
            <a:off x="4671060" y="2912990"/>
            <a:ext cx="6172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decrypt</a:t>
            </a:r>
            <a:endParaRPr lang="ko-KR" altLang="en-US" sz="8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1B610-F230-45A2-5285-99A8FBC11E9B}"/>
              </a:ext>
            </a:extLst>
          </p:cNvPr>
          <p:cNvSpPr txBox="1"/>
          <p:nvPr/>
        </p:nvSpPr>
        <p:spPr>
          <a:xfrm>
            <a:off x="4137662" y="3262592"/>
            <a:ext cx="1021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페이퍼로지 4 Regular" pitchFamily="2" charset="-127"/>
                <a:ea typeface="페이퍼로지 4 Regular" pitchFamily="2" charset="-127"/>
              </a:rPr>
              <a:t>password</a:t>
            </a:r>
            <a:endParaRPr lang="ko-KR" altLang="en-US" sz="10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628676-1195-4FA4-19F8-8862F78CB0AD}"/>
              </a:ext>
            </a:extLst>
          </p:cNvPr>
          <p:cNvSpPr txBox="1"/>
          <p:nvPr/>
        </p:nvSpPr>
        <p:spPr>
          <a:xfrm>
            <a:off x="5231131" y="2897601"/>
            <a:ext cx="1123949" cy="246221"/>
          </a:xfrm>
          <a:prstGeom prst="rect">
            <a:avLst/>
          </a:prstGeom>
          <a:noFill/>
          <a:ln>
            <a:solidFill>
              <a:srgbClr val="9933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</a:rPr>
              <a:t>AES-256-GCM</a:t>
            </a:r>
            <a:endParaRPr lang="ko-KR" altLang="en-US" sz="1000">
              <a:solidFill>
                <a:srgbClr val="9933FF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182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9" grpId="0"/>
      <p:bldP spid="22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C04CB36-233C-C81D-FD1F-EAA866B8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0982091-E238-5E8D-2822-C5F37BC94B78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So, how do i decrypt? </a:t>
            </a:r>
          </a:p>
          <a:p>
            <a:pPr lvl="2" indent="176213" defTabSz="180000">
              <a:buSzPts val="1600"/>
              <a:tabLst>
                <a:tab pos="358775" algn="l"/>
              </a:tabLst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1: DPAPI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어케 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2: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단순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'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관리자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'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권한이 아님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en-US" altLang="ko-KR" sz="10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'NT_AUTHORITY\SYSTEM'</a:t>
            </a: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3: Windows CNG?</a:t>
            </a: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4: Hardcoded const xor_key?</a:t>
            </a: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4988" lvl="2" indent="-176213" defTabSz="358775">
              <a:buSzPts val="1600"/>
              <a:tabLst>
                <a:tab pos="358775" algn="l"/>
              </a:tabLst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5: Validate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Data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(Proc path validation)</a:t>
            </a:r>
          </a:p>
          <a:p>
            <a:pPr marL="534988" lvl="2" indent="-176213" defTabSz="358775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EFE7924-31B0-A388-5871-D5312885A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TODO: Simulation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C829D9-6275-80BA-0350-F25584F5F6E0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AC1DF2-62B1-0BAB-87D2-7AEC6A5AD646}"/>
              </a:ext>
            </a:extLst>
          </p:cNvPr>
          <p:cNvCxnSpPr/>
          <p:nvPr/>
        </p:nvCxnSpPr>
        <p:spPr>
          <a:xfrm>
            <a:off x="758613" y="1184994"/>
            <a:ext cx="0" cy="1497584"/>
          </a:xfrm>
          <a:prstGeom prst="line">
            <a:avLst/>
          </a:prstGeom>
          <a:ln w="19050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18F06EC0-F5E4-AE62-2A0E-B9A60E51C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056" y="941332"/>
            <a:ext cx="2906532" cy="19533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5A5E50-569B-807C-26CA-CF8E378B0DD3}"/>
              </a:ext>
            </a:extLst>
          </p:cNvPr>
          <p:cNvSpPr txBox="1"/>
          <p:nvPr/>
        </p:nvSpPr>
        <p:spPr>
          <a:xfrm>
            <a:off x="7095971" y="2597939"/>
            <a:ext cx="125857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"/>
              <a:t>https://www.baeldung.com/cs/os-rings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9DC9CB-1996-E8CD-EEAF-38D0E4320FDE}"/>
              </a:ext>
            </a:extLst>
          </p:cNvPr>
          <p:cNvCxnSpPr>
            <a:cxnSpLocks/>
          </p:cNvCxnSpPr>
          <p:nvPr/>
        </p:nvCxnSpPr>
        <p:spPr>
          <a:xfrm>
            <a:off x="855267" y="3252998"/>
            <a:ext cx="7134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665492F-81CB-99E7-CBB8-B08618755C89}"/>
              </a:ext>
            </a:extLst>
          </p:cNvPr>
          <p:cNvCxnSpPr>
            <a:cxnSpLocks/>
          </p:cNvCxnSpPr>
          <p:nvPr/>
        </p:nvCxnSpPr>
        <p:spPr>
          <a:xfrm>
            <a:off x="855267" y="3559147"/>
            <a:ext cx="7134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52905E8-9918-DE01-5E8D-3DAD17DCCD23}"/>
              </a:ext>
            </a:extLst>
          </p:cNvPr>
          <p:cNvCxnSpPr>
            <a:cxnSpLocks/>
          </p:cNvCxnSpPr>
          <p:nvPr/>
        </p:nvCxnSpPr>
        <p:spPr>
          <a:xfrm>
            <a:off x="855267" y="3858552"/>
            <a:ext cx="7134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9556ACF-6ECD-D2D8-939F-D3865B4573F3}"/>
              </a:ext>
            </a:extLst>
          </p:cNvPr>
          <p:cNvCxnSpPr>
            <a:cxnSpLocks/>
          </p:cNvCxnSpPr>
          <p:nvPr/>
        </p:nvCxnSpPr>
        <p:spPr>
          <a:xfrm>
            <a:off x="855267" y="4157957"/>
            <a:ext cx="7134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881731-8B54-B03A-88EA-DD55FEC7D55C}"/>
              </a:ext>
            </a:extLst>
          </p:cNvPr>
          <p:cNvSpPr txBox="1"/>
          <p:nvPr/>
        </p:nvSpPr>
        <p:spPr>
          <a:xfrm>
            <a:off x="933584" y="3293432"/>
            <a:ext cx="58672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Layer 4. User, Brower, Apps (Low / Medium Integrity)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DC7C2-467F-C6BB-7D10-87921EF6535B}"/>
              </a:ext>
            </a:extLst>
          </p:cNvPr>
          <p:cNvSpPr txBox="1"/>
          <p:nvPr/>
        </p:nvSpPr>
        <p:spPr>
          <a:xfrm>
            <a:off x="933584" y="3601128"/>
            <a:ext cx="3033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Layer 3. "</a:t>
            </a:r>
            <a:r>
              <a:rPr lang="ko-KR" altLang="en-US" sz="800">
                <a:latin typeface="페이퍼로지 3 Light" pitchFamily="2" charset="-127"/>
                <a:ea typeface="페이퍼로지 3 Light" pitchFamily="2" charset="-127"/>
              </a:rPr>
              <a:t>관리자 권한으로 실행</a:t>
            </a:r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" (High Integrity)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A531BF-3570-667B-F3DD-9F81044BCCB3}"/>
              </a:ext>
            </a:extLst>
          </p:cNvPr>
          <p:cNvSpPr txBox="1"/>
          <p:nvPr/>
        </p:nvSpPr>
        <p:spPr>
          <a:xfrm>
            <a:off x="933584" y="3905755"/>
            <a:ext cx="5376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chemeClr val="accent3">
                    <a:lumMod val="7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Layer 2. NT_AUTHORITY\SYSTEM: Win </a:t>
            </a:r>
            <a:r>
              <a:rPr lang="ko-KR" altLang="en-US" sz="800">
                <a:solidFill>
                  <a:schemeClr val="accent3">
                    <a:lumMod val="7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백그라운드 서비스 및 데몬</a:t>
            </a:r>
            <a:r>
              <a:rPr lang="en-US" altLang="ko-KR" sz="800">
                <a:solidFill>
                  <a:schemeClr val="accent3">
                    <a:lumMod val="7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, elevation_service.exe (System Integrity)</a:t>
            </a:r>
            <a:endParaRPr lang="ko-KR" altLang="en-US" sz="800">
              <a:solidFill>
                <a:schemeClr val="accent3">
                  <a:lumMod val="75000"/>
                </a:schemeClr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FA592D7-25B7-1F7B-5208-759B6F587D3B}"/>
              </a:ext>
            </a:extLst>
          </p:cNvPr>
          <p:cNvCxnSpPr>
            <a:cxnSpLocks/>
          </p:cNvCxnSpPr>
          <p:nvPr/>
        </p:nvCxnSpPr>
        <p:spPr>
          <a:xfrm>
            <a:off x="855267" y="4463260"/>
            <a:ext cx="7134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29F4C0-CC07-E20E-7FA9-759B5D1C0B9D}"/>
              </a:ext>
            </a:extLst>
          </p:cNvPr>
          <p:cNvSpPr txBox="1"/>
          <p:nvPr/>
        </p:nvSpPr>
        <p:spPr>
          <a:xfrm>
            <a:off x="933583" y="4199264"/>
            <a:ext cx="43424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3 Light" pitchFamily="2" charset="-127"/>
                <a:ea typeface="페이퍼로지 3 Light" pitchFamily="2" charset="-127"/>
              </a:rPr>
              <a:t>Layer 1. PPL(Protected Process Light): lsass.exe, csrss.exe, services.exe</a:t>
            </a:r>
            <a:endParaRPr lang="ko-KR" altLang="en-US" sz="80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F6739-6CF2-7E70-198C-6BC9F95F9D89}"/>
              </a:ext>
            </a:extLst>
          </p:cNvPr>
          <p:cNvSpPr txBox="1"/>
          <p:nvPr/>
        </p:nvSpPr>
        <p:spPr>
          <a:xfrm>
            <a:off x="933583" y="4511813"/>
            <a:ext cx="43424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  <a:latin typeface="페이퍼로지 3 Light" pitchFamily="2" charset="-127"/>
                <a:ea typeface="페이퍼로지 3 Light" pitchFamily="2" charset="-127"/>
              </a:rPr>
              <a:t>Ring 0: KERNEL MODE</a:t>
            </a:r>
            <a:endParaRPr lang="ko-KR" altLang="en-US" sz="800">
              <a:solidFill>
                <a:srgbClr val="FF000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52AF1E-9795-D84B-E595-3725BE692D53}"/>
              </a:ext>
            </a:extLst>
          </p:cNvPr>
          <p:cNvSpPr txBox="1"/>
          <p:nvPr/>
        </p:nvSpPr>
        <p:spPr>
          <a:xfrm>
            <a:off x="933583" y="2988130"/>
            <a:ext cx="43424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00B050"/>
                </a:solidFill>
                <a:latin typeface="페이퍼로지 3 Light" pitchFamily="2" charset="-127"/>
                <a:ea typeface="페이퍼로지 3 Light" pitchFamily="2" charset="-127"/>
              </a:rPr>
              <a:t>Ring 3: USER MODE</a:t>
            </a:r>
            <a:endParaRPr lang="ko-KR" altLang="en-US" sz="800">
              <a:solidFill>
                <a:srgbClr val="00B050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16B762F-5B88-D1D1-702B-D7C06EEDCA53}"/>
              </a:ext>
            </a:extLst>
          </p:cNvPr>
          <p:cNvSpPr/>
          <p:nvPr/>
        </p:nvSpPr>
        <p:spPr>
          <a:xfrm>
            <a:off x="2957055" y="903122"/>
            <a:ext cx="1938873" cy="36547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app_bound_encrypted_key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78199B7-D1E8-2917-29F4-05345B9E4B26}"/>
              </a:ext>
            </a:extLst>
          </p:cNvPr>
          <p:cNvSpPr/>
          <p:nvPr/>
        </p:nvSpPr>
        <p:spPr>
          <a:xfrm>
            <a:off x="2813741" y="820133"/>
            <a:ext cx="2198407" cy="531449"/>
          </a:xfrm>
          <a:prstGeom prst="roundRect">
            <a:avLst/>
          </a:prstGeom>
          <a:noFill/>
          <a:ln>
            <a:solidFill>
              <a:srgbClr val="ECAE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DD99E76-C6F8-6403-02CB-4D58E0022A05}"/>
              </a:ext>
            </a:extLst>
          </p:cNvPr>
          <p:cNvSpPr/>
          <p:nvPr/>
        </p:nvSpPr>
        <p:spPr>
          <a:xfrm>
            <a:off x="2693657" y="728792"/>
            <a:ext cx="2418248" cy="7073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56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19" grpId="0"/>
      <p:bldP spid="21" grpId="0"/>
      <p:bldP spid="24" grpId="0"/>
      <p:bldP spid="26" grpId="0"/>
      <p:bldP spid="28" grpId="0"/>
      <p:bldP spid="2" grpId="0" animBg="1"/>
      <p:bldP spid="2" grpId="1" animBg="1"/>
      <p:bldP spid="5" grpId="0" animBg="1"/>
      <p:bldP spid="5" grpId="1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18CBEAE-6A0C-10FF-31E3-61B407A2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61F04A-232C-30A4-E6AF-253BDEF73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3" b="1493"/>
          <a:stretch>
            <a:fillRect/>
          </a:stretch>
        </p:blipFill>
        <p:spPr>
          <a:xfrm>
            <a:off x="5214943" y="1"/>
            <a:ext cx="3503112" cy="5143500"/>
          </a:xfrm>
          <a:prstGeom prst="rect">
            <a:avLst/>
          </a:prstGeom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CDD3D68-3317-E7E1-94FF-0A8363F35F3F}"/>
              </a:ext>
            </a:extLst>
          </p:cNvPr>
          <p:cNvSpPr txBox="1"/>
          <p:nvPr/>
        </p:nvSpPr>
        <p:spPr>
          <a:xfrm flipH="1">
            <a:off x="387275" y="898954"/>
            <a:ext cx="4633800" cy="401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chromium/src/+/HEAD/chrome/elevation_service/elevator.cc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DecryptData 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8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- 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Decrypt</a:t>
            </a:r>
          </a:p>
          <a:p>
            <a:pPr marL="357188" lvl="2" indent="-177800">
              <a:buSzPct val="100000"/>
              <a:buAutoNum type="arabicPeriod"/>
            </a:pP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SYSTEM 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 </a:t>
            </a:r>
          </a:p>
          <a:p>
            <a:pPr marL="357188" lvl="2" indent="-177800">
              <a:buSzPct val="100000"/>
              <a:buAutoNum type="arabicPeriod"/>
            </a:pP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USER 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9388" lvl="2" indent="-179388">
              <a:buSzPct val="100000"/>
              <a:buFontTx/>
              <a:buChar char="-"/>
            </a:pP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Encrypt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1. 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USER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 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2. 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SYSTEM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 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</a:p>
          <a:p>
            <a:pPr lvl="2">
              <a:buSzPct val="100000"/>
            </a:pPr>
            <a:endParaRPr lang="en-US" altLang="ko-KR" sz="10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11976A0-7AC5-19D9-1F0C-FE8D5B751167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CDB724A9-FAC8-813D-EF49-6767E5966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98" y="78307"/>
            <a:ext cx="609524" cy="60952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3A1077-97C9-7A40-BF45-BFA7D1CE9B49}"/>
              </a:ext>
            </a:extLst>
          </p:cNvPr>
          <p:cNvSpPr/>
          <p:nvPr/>
        </p:nvSpPr>
        <p:spPr>
          <a:xfrm>
            <a:off x="5448452" y="92596"/>
            <a:ext cx="2866873" cy="34317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E36360-DBEB-5954-D567-30610B893A42}"/>
              </a:ext>
            </a:extLst>
          </p:cNvPr>
          <p:cNvSpPr/>
          <p:nvPr/>
        </p:nvSpPr>
        <p:spPr>
          <a:xfrm>
            <a:off x="5448452" y="914194"/>
            <a:ext cx="3052611" cy="50027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810501-F93F-68EE-A46B-D880DCEBDE8D}"/>
              </a:ext>
            </a:extLst>
          </p:cNvPr>
          <p:cNvSpPr/>
          <p:nvPr/>
        </p:nvSpPr>
        <p:spPr>
          <a:xfrm>
            <a:off x="5562752" y="2847768"/>
            <a:ext cx="2938311" cy="581231"/>
          </a:xfrm>
          <a:prstGeom prst="rect">
            <a:avLst/>
          </a:prstGeom>
          <a:noFill/>
          <a:ln w="12700"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2AB97-11FE-1EEF-265B-2F090AD288FE}"/>
              </a:ext>
            </a:extLst>
          </p:cNvPr>
          <p:cNvSpPr txBox="1"/>
          <p:nvPr/>
        </p:nvSpPr>
        <p:spPr>
          <a:xfrm>
            <a:off x="3929058" y="2938328"/>
            <a:ext cx="1381126" cy="400110"/>
          </a:xfrm>
          <a:prstGeom prst="rect">
            <a:avLst/>
          </a:prstGeom>
          <a:noFill/>
          <a:ln w="12700">
            <a:solidFill>
              <a:srgbClr val="9933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과거의 요청자와 </a:t>
            </a:r>
            <a:endParaRPr lang="en-US" altLang="ko-KR" sz="1000">
              <a:solidFill>
                <a:schemeClr val="tx2">
                  <a:lumMod val="75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현재의 요청자 일치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120EBD-E9AE-95D2-80E4-4CF9C2C64B1C}"/>
              </a:ext>
            </a:extLst>
          </p:cNvPr>
          <p:cNvSpPr/>
          <p:nvPr/>
        </p:nvSpPr>
        <p:spPr>
          <a:xfrm>
            <a:off x="945655" y="2823533"/>
            <a:ext cx="2005008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app_bound_encrypted_key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83088C-6A9E-578F-CC9B-E9FCD17A9C9E}"/>
              </a:ext>
            </a:extLst>
          </p:cNvPr>
          <p:cNvSpPr/>
          <p:nvPr/>
        </p:nvSpPr>
        <p:spPr>
          <a:xfrm>
            <a:off x="642937" y="2189610"/>
            <a:ext cx="2610441" cy="1220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77A386-B0D7-E315-CABB-0ACD740E15F8}"/>
              </a:ext>
            </a:extLst>
          </p:cNvPr>
          <p:cNvSpPr/>
          <p:nvPr/>
        </p:nvSpPr>
        <p:spPr>
          <a:xfrm>
            <a:off x="761396" y="2573996"/>
            <a:ext cx="2373525" cy="7404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E4B53-474B-AA11-BD37-087C4CE54554}"/>
              </a:ext>
            </a:extLst>
          </p:cNvPr>
          <p:cNvSpPr txBox="1"/>
          <p:nvPr/>
        </p:nvSpPr>
        <p:spPr>
          <a:xfrm>
            <a:off x="1707646" y="2354848"/>
            <a:ext cx="481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USER</a:t>
            </a:r>
            <a:endParaRPr lang="ko-KR" altLang="en-US" sz="8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5DCC6-BCED-B7AE-FBA6-9FB8A634B410}"/>
              </a:ext>
            </a:extLst>
          </p:cNvPr>
          <p:cNvSpPr txBox="1"/>
          <p:nvPr/>
        </p:nvSpPr>
        <p:spPr>
          <a:xfrm>
            <a:off x="1643096" y="1930980"/>
            <a:ext cx="609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SYSTEM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81A8AC3-D568-D1F7-ED9E-800CA50B7FF9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087880" y="1164329"/>
            <a:ext cx="3360572" cy="5044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3F7F521-E8BB-EA54-AD26-3E73D4A569A0}"/>
              </a:ext>
            </a:extLst>
          </p:cNvPr>
          <p:cNvCxnSpPr>
            <a:cxnSpLocks/>
            <a:stCxn id="20" idx="2"/>
            <a:endCxn id="4" idx="0"/>
          </p:cNvCxnSpPr>
          <p:nvPr/>
        </p:nvCxnSpPr>
        <p:spPr>
          <a:xfrm>
            <a:off x="4270773" y="2674620"/>
            <a:ext cx="348848" cy="263708"/>
          </a:xfrm>
          <a:prstGeom prst="straightConnector1">
            <a:avLst/>
          </a:prstGeom>
          <a:ln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387477-BD0B-7812-A9CC-73944018FFDB}"/>
              </a:ext>
            </a:extLst>
          </p:cNvPr>
          <p:cNvSpPr/>
          <p:nvPr/>
        </p:nvSpPr>
        <p:spPr>
          <a:xfrm>
            <a:off x="3390900" y="1760220"/>
            <a:ext cx="1759746" cy="914400"/>
          </a:xfrm>
          <a:prstGeom prst="rect">
            <a:avLst/>
          </a:prstGeom>
          <a:noFill/>
          <a:ln w="12700"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과거의 요청자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GenerateValidationData </a:t>
            </a:r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정보가 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arg2: data</a:t>
            </a:r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에 같이 저장되어 있음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-----------------------------------</a:t>
            </a:r>
          </a:p>
          <a:p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현재의 요청자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impersonated process handler ValidateData</a:t>
            </a:r>
            <a:endParaRPr lang="ko-KR" altLang="en-US" sz="80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6467066-B0BE-6E99-CED6-D8F2EDD396DF}"/>
              </a:ext>
            </a:extLst>
          </p:cNvPr>
          <p:cNvSpPr/>
          <p:nvPr/>
        </p:nvSpPr>
        <p:spPr>
          <a:xfrm>
            <a:off x="5783581" y="222272"/>
            <a:ext cx="699076" cy="1143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3E26D5-19FA-41AC-214C-7542B39EAF54}"/>
              </a:ext>
            </a:extLst>
          </p:cNvPr>
          <p:cNvSpPr/>
          <p:nvPr/>
        </p:nvSpPr>
        <p:spPr>
          <a:xfrm>
            <a:off x="5848304" y="1203960"/>
            <a:ext cx="699076" cy="1143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8B8B3-6088-2CFE-EA26-EDEE7846971B}"/>
              </a:ext>
            </a:extLst>
          </p:cNvPr>
          <p:cNvSpPr txBox="1"/>
          <p:nvPr/>
        </p:nvSpPr>
        <p:spPr>
          <a:xfrm>
            <a:off x="3077536" y="419866"/>
            <a:ext cx="1494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only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for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key</a:t>
            </a:r>
            <a:endParaRPr lang="ko-KR" altLang="en-US">
              <a:latin typeface="페이퍼로지 9 Black" pitchFamily="2" charset="-127"/>
              <a:ea typeface="페이퍼로지 9 Black" pitchFamily="2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AE7E909-D3E3-D19D-B3A8-5439E2EA8CAE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303446" y="264183"/>
            <a:ext cx="3145006" cy="11920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143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416815C-532E-A774-2CA8-A6008DC9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79F9773-757B-6757-BF30-7C4234E5DB3F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But, we already know about decryption flow !!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Just do it !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We need to </a:t>
            </a:r>
            <a:r>
              <a:rPr lang="en-US" altLang="ko-KR" sz="1000">
                <a:solidFill>
                  <a:srgbClr val="00B0F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ref.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 script as a admin.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Let's go... ? nononononono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First of all. PoC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09EAFB7-23C9-E403-40C4-F487FEA275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Solution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1F7A96-98C1-4998-BAF5-4F78505F49AB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19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620BE2E-077F-7B9B-DCBB-D73C05CA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67A35D9-E7E8-FE62-6215-3D1C908E6269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96B6733-D6B8-F400-FE7A-6AC3613D0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Windows CNG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B8AEFD-3CC5-E917-A24C-83238EA86B47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43AEEEF-3460-2A50-2ADB-348898A0913F}"/>
              </a:ext>
            </a:extLst>
          </p:cNvPr>
          <p:cNvSpPr txBox="1"/>
          <p:nvPr/>
        </p:nvSpPr>
        <p:spPr>
          <a:xfrm>
            <a:off x="572496" y="886668"/>
            <a:ext cx="33955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>
                <a:latin typeface="Cascadia Mono" panose="020B0609020000020004" pitchFamily="49" charset="0"/>
                <a:cs typeface="Cascadia Mono" panose="020B0609020000020004" pitchFamily="49" charset="0"/>
              </a:rPr>
              <a:t>C:\ProgramData\Microsoft\Crypto\SystemKeys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AB6DBE-D7AA-CBAD-23B6-0DC98CF9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901"/>
          <a:stretch>
            <a:fillRect/>
          </a:stretch>
        </p:blipFill>
        <p:spPr>
          <a:xfrm>
            <a:off x="640053" y="1132889"/>
            <a:ext cx="4258514" cy="84594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78AA67E-89FC-8482-13E9-B84B6F94235D}"/>
              </a:ext>
            </a:extLst>
          </p:cNvPr>
          <p:cNvSpPr/>
          <p:nvPr/>
        </p:nvSpPr>
        <p:spPr>
          <a:xfrm>
            <a:off x="1813247" y="2678685"/>
            <a:ext cx="2154773" cy="971974"/>
          </a:xfrm>
          <a:prstGeom prst="roundRect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Windows CNG</a:t>
            </a:r>
          </a:p>
          <a:p>
            <a:pPr algn="ctr"/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with. Google "ChromeKey1"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BEB5E84-ECFB-5582-3351-17CED060076B}"/>
              </a:ext>
            </a:extLst>
          </p:cNvPr>
          <p:cNvCxnSpPr>
            <a:cxnSpLocks/>
          </p:cNvCxnSpPr>
          <p:nvPr/>
        </p:nvCxnSpPr>
        <p:spPr>
          <a:xfrm>
            <a:off x="1982549" y="3553090"/>
            <a:ext cx="31526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1C3F94D3-AA9B-633D-EFA1-04D097F78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184" y="1825679"/>
            <a:ext cx="3656192" cy="302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5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9FE54AE-E300-1CB8-74C5-24F3D0134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F48EC15-30D4-3628-DEC8-F712BE64E7D2}"/>
              </a:ext>
            </a:extLst>
          </p:cNvPr>
          <p:cNvSpPr txBox="1"/>
          <p:nvPr/>
        </p:nvSpPr>
        <p:spPr>
          <a:xfrm flipH="1">
            <a:off x="452549" y="753158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indent="177800" defTabSz="180000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Cascadia Mono" panose="020B0609020000020004" pitchFamily="49" charset="0"/>
                <a:ea typeface="페이퍼로지 4 Regular" charset="-127"/>
                <a:cs typeface="Cascadia Mono" panose="020B0609020000020004" pitchFamily="49" charset="0"/>
                <a:sym typeface="Montserrat SemiBold"/>
              </a:rPr>
              <a:t>$ &gt; dumpbin</a:t>
            </a:r>
            <a:r>
              <a:rPr lang="ko-KR" altLang="en-US" sz="1000">
                <a:solidFill>
                  <a:schemeClr val="dk1"/>
                </a:solidFill>
                <a:latin typeface="Cascadia Mono" panose="020B0609020000020004" pitchFamily="49" charset="0"/>
                <a:ea typeface="페이퍼로지 4 Regular" charset="-127"/>
                <a:cs typeface="Cascadia Mono" panose="020B0609020000020004" pitchFamily="49" charset="0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Cascadia Mono" panose="020B0609020000020004" pitchFamily="49" charset="0"/>
                <a:ea typeface="페이퍼로지 4 Regular" charset="-127"/>
                <a:cs typeface="Cascadia Mono" panose="020B0609020000020004" pitchFamily="49" charset="0"/>
                <a:sym typeface="Montserrat SemiBold"/>
              </a:rPr>
              <a:t>–exports "C:\Windows\System32\ncrypt.dll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022E2F2-0D23-F755-E419-8B4109D78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Windows CNG -exports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29442D-B785-B652-BE44-77AE88429EC7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B8D3F13-472D-9A92-2538-85A17607D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729" y="1122122"/>
            <a:ext cx="3954591" cy="39003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64DA76A-5BE6-4033-34A8-19E791DC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96" y="1122123"/>
            <a:ext cx="3896555" cy="390036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D984867-6739-D3DA-11FE-3D5EAFA6276E}"/>
              </a:ext>
            </a:extLst>
          </p:cNvPr>
          <p:cNvSpPr/>
          <p:nvPr/>
        </p:nvSpPr>
        <p:spPr>
          <a:xfrm>
            <a:off x="5394743" y="2920419"/>
            <a:ext cx="523875" cy="1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5A83A4-CB87-106A-5F06-0F5326AF7B19}"/>
              </a:ext>
            </a:extLst>
          </p:cNvPr>
          <p:cNvSpPr/>
          <p:nvPr/>
        </p:nvSpPr>
        <p:spPr>
          <a:xfrm>
            <a:off x="5394743" y="3042751"/>
            <a:ext cx="936626" cy="1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4C8236-57C1-62EA-1ACA-10DCC8CB3423}"/>
              </a:ext>
            </a:extLst>
          </p:cNvPr>
          <p:cNvSpPr/>
          <p:nvPr/>
        </p:nvSpPr>
        <p:spPr>
          <a:xfrm>
            <a:off x="5394742" y="1667882"/>
            <a:ext cx="523875" cy="1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5DDE646-D6A0-3CF2-5C89-F27711498C6A}"/>
              </a:ext>
            </a:extLst>
          </p:cNvPr>
          <p:cNvCxnSpPr/>
          <p:nvPr/>
        </p:nvCxnSpPr>
        <p:spPr>
          <a:xfrm>
            <a:off x="623087" y="761250"/>
            <a:ext cx="0" cy="22958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686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175E605-553D-292A-8773-419580C2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53FCD33-70B3-0F61-F630-A6FE543E7456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 Chrome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elevation_service.exe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have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hardcoded bytes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?!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3A53795-24A2-2218-0ABE-65718EA32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5603029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xor_key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6153F62-951B-DD29-5F1B-CCEA7B24740B}"/>
              </a:ext>
            </a:extLst>
          </p:cNvPr>
          <p:cNvCxnSpPr>
            <a:cxnSpLocks/>
          </p:cNvCxnSpPr>
          <p:nvPr/>
        </p:nvCxnSpPr>
        <p:spPr>
          <a:xfrm>
            <a:off x="407902" y="610907"/>
            <a:ext cx="5758229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8E041478-266E-2344-9E3A-73ED53ED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32" y="1148033"/>
            <a:ext cx="2455056" cy="347148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3E33E9C-6DBC-7F89-690E-0065D93C0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907" y="1137343"/>
            <a:ext cx="2668372" cy="34821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CB5386B-3C3B-D9B1-4181-B6B7EA538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330" y="1148032"/>
            <a:ext cx="2354224" cy="347148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5BF296-7266-18BB-3E8C-76A67A3E2FD3}"/>
              </a:ext>
            </a:extLst>
          </p:cNvPr>
          <p:cNvSpPr/>
          <p:nvPr/>
        </p:nvSpPr>
        <p:spPr>
          <a:xfrm>
            <a:off x="2395242" y="1764064"/>
            <a:ext cx="590719" cy="2768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D49608-8965-89CC-41AF-CB3F78B52FD8}"/>
              </a:ext>
            </a:extLst>
          </p:cNvPr>
          <p:cNvSpPr/>
          <p:nvPr/>
        </p:nvSpPr>
        <p:spPr>
          <a:xfrm>
            <a:off x="5057609" y="1494163"/>
            <a:ext cx="606816" cy="30384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9D0C72-3BB6-CA23-7143-F5856D7E7ABB}"/>
              </a:ext>
            </a:extLst>
          </p:cNvPr>
          <p:cNvSpPr/>
          <p:nvPr/>
        </p:nvSpPr>
        <p:spPr>
          <a:xfrm>
            <a:off x="7743722" y="1629905"/>
            <a:ext cx="651948" cy="29026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E242DF6-58A9-2E12-F4F2-CF1EB3E825F6}"/>
              </a:ext>
            </a:extLst>
          </p:cNvPr>
          <p:cNvSpPr/>
          <p:nvPr/>
        </p:nvSpPr>
        <p:spPr>
          <a:xfrm>
            <a:off x="6371915" y="89137"/>
            <a:ext cx="2154773" cy="971974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Google Chrome</a:t>
            </a:r>
          </a:p>
          <a:p>
            <a:pPr algn="ctr"/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Hardcoded bytes</a:t>
            </a:r>
            <a:br>
              <a:rPr lang="en-US" altLang="ko-KR" sz="1100"/>
            </a:br>
            <a:r>
              <a:rPr lang="en-US" altLang="ko-KR" sz="900"/>
              <a:t>(chrome.dll? elevation_service.exe?)</a:t>
            </a:r>
          </a:p>
        </p:txBody>
      </p:sp>
    </p:spTree>
    <p:extLst>
      <p:ext uri="{BB962C8B-B14F-4D97-AF65-F5344CB8AC3E}">
        <p14:creationId xmlns:p14="http://schemas.microsoft.com/office/powerpoint/2010/main" val="143312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67C87A7-9C42-24DB-CFC6-2F5C31FD9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A3FDD61-42F0-E555-FF1E-2D99CA567CDC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 Chrome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elevation_service.exe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have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hardcoded bytes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?!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9C0A263-3255-9D2F-26C3-ECA04609C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xor_key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9E8B1F-E5D4-7D67-2427-241AEFDD1A5C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364C60AA-655B-24C7-E911-9107E1310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584" y="1116700"/>
            <a:ext cx="3936903" cy="37870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86F992-D1DB-195A-627B-7849B32DE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47" y="1116700"/>
            <a:ext cx="3521405" cy="378707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F806A87-A5AA-C46B-2F4A-48B0BBA7F870}"/>
              </a:ext>
            </a:extLst>
          </p:cNvPr>
          <p:cNvSpPr/>
          <p:nvPr/>
        </p:nvSpPr>
        <p:spPr>
          <a:xfrm>
            <a:off x="1699327" y="1221897"/>
            <a:ext cx="623087" cy="186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2CEA2A-8DD6-0EFB-EB46-97C9771032CC}"/>
              </a:ext>
            </a:extLst>
          </p:cNvPr>
          <p:cNvSpPr/>
          <p:nvPr/>
        </p:nvSpPr>
        <p:spPr>
          <a:xfrm>
            <a:off x="4756768" y="3251650"/>
            <a:ext cx="1546928" cy="163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47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F5B59AC-E86B-3AF4-6A36-91312BEA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1C2E30E-D6CF-3CC3-0287-A556B4012A43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Google Chrome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elevation_service.exe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have 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hardcoded bytes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?!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F22C587-9FB3-4138-2CB3-7DADC953A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-US" sz="1600"/>
              <a:t>xor_key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4E79C4-37C2-0210-DB31-60266531B0C7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8EBA9DF-14A6-D1D5-9B05-427DD6F75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224" y="2254507"/>
            <a:ext cx="3148260" cy="6344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4730C5D-334D-DB48-471B-0EF0CF285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503" y="1038397"/>
            <a:ext cx="2818067" cy="392744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B335A55-03B2-DFE4-AA58-D12E47B7F623}"/>
              </a:ext>
            </a:extLst>
          </p:cNvPr>
          <p:cNvSpPr/>
          <p:nvPr/>
        </p:nvSpPr>
        <p:spPr>
          <a:xfrm>
            <a:off x="1276503" y="981753"/>
            <a:ext cx="2008863" cy="22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4C3260-E05C-362C-9855-E3094CF1FF0A}"/>
              </a:ext>
            </a:extLst>
          </p:cNvPr>
          <p:cNvSpPr/>
          <p:nvPr/>
        </p:nvSpPr>
        <p:spPr>
          <a:xfrm>
            <a:off x="6481719" y="2429479"/>
            <a:ext cx="1296765" cy="188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03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FE2C6F6-05E5-B7E1-E6CD-A1821EA4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9FB8C22-2D3B-1A7A-8FA7-6355165380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sz="1600"/>
              <a:t>Rewind &amp; Update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E0CB479-4DE5-CB81-B10C-0B65F4B6F2B9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1CAAB16-1F16-CC77-52ED-DD9624A4A237}"/>
              </a:ext>
            </a:extLst>
          </p:cNvPr>
          <p:cNvSpPr/>
          <p:nvPr/>
        </p:nvSpPr>
        <p:spPr>
          <a:xfrm>
            <a:off x="1079509" y="2991413"/>
            <a:ext cx="1938873" cy="36547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app_bound_encrypted_key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0DF9A18-37E7-4C0F-02AE-EF6B4EA9488F}"/>
              </a:ext>
            </a:extLst>
          </p:cNvPr>
          <p:cNvSpPr/>
          <p:nvPr/>
        </p:nvSpPr>
        <p:spPr>
          <a:xfrm>
            <a:off x="936195" y="2908424"/>
            <a:ext cx="2198407" cy="531449"/>
          </a:xfrm>
          <a:prstGeom prst="roundRect">
            <a:avLst/>
          </a:prstGeom>
          <a:noFill/>
          <a:ln>
            <a:solidFill>
              <a:srgbClr val="ECAE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406ADE5-D00C-2230-D273-51938FC5ED9C}"/>
              </a:ext>
            </a:extLst>
          </p:cNvPr>
          <p:cNvSpPr/>
          <p:nvPr/>
        </p:nvSpPr>
        <p:spPr>
          <a:xfrm>
            <a:off x="816111" y="2817083"/>
            <a:ext cx="2418248" cy="7073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772E02-F580-1C9A-BFCA-35B0B867B963}"/>
              </a:ext>
            </a:extLst>
          </p:cNvPr>
          <p:cNvSpPr/>
          <p:nvPr/>
        </p:nvSpPr>
        <p:spPr>
          <a:xfrm>
            <a:off x="1055798" y="2037913"/>
            <a:ext cx="1938873" cy="402023"/>
          </a:xfrm>
          <a:prstGeom prst="round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decode: base64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remove: "APPB" prefix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E9C2D8-BE92-CC16-5013-337D61C7A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96" y="992149"/>
            <a:ext cx="2244675" cy="701809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E4CDF7B-0E5F-21DA-EA3B-BCCD701187C4}"/>
              </a:ext>
            </a:extLst>
          </p:cNvPr>
          <p:cNvSpPr/>
          <p:nvPr/>
        </p:nvSpPr>
        <p:spPr>
          <a:xfrm>
            <a:off x="3781963" y="3778126"/>
            <a:ext cx="2154773" cy="971974"/>
          </a:xfrm>
          <a:prstGeom prst="roundRect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Windows CNG</a:t>
            </a:r>
          </a:p>
          <a:p>
            <a:pPr algn="ctr"/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with. Google "ChromeKey1"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E5306B4-A208-7B65-A6C8-39D76884578F}"/>
              </a:ext>
            </a:extLst>
          </p:cNvPr>
          <p:cNvCxnSpPr>
            <a:stCxn id="11" idx="2"/>
            <a:endCxn id="9" idx="0"/>
          </p:cNvCxnSpPr>
          <p:nvPr/>
        </p:nvCxnSpPr>
        <p:spPr>
          <a:xfrm>
            <a:off x="2025234" y="1693958"/>
            <a:ext cx="1" cy="343955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D73AC2C-251C-5AC5-8156-F72691DF9481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2025235" y="2439936"/>
            <a:ext cx="0" cy="377147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946B200-FE08-2BA1-4178-9D045433CD8A}"/>
              </a:ext>
            </a:extLst>
          </p:cNvPr>
          <p:cNvSpPr/>
          <p:nvPr/>
        </p:nvSpPr>
        <p:spPr>
          <a:xfrm>
            <a:off x="1059190" y="4081376"/>
            <a:ext cx="1938873" cy="365475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encrypted_aes_key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587158-382F-FC87-3189-7EFD7C90B227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2025235" y="3524441"/>
            <a:ext cx="3392" cy="556935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F8AB7FE-7169-E40A-F122-D7C5DAF00F81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2998063" y="4264113"/>
            <a:ext cx="783900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1E1274D-AC51-371C-CA9C-2B7F99B1357B}"/>
              </a:ext>
            </a:extLst>
          </p:cNvPr>
          <p:cNvCxnSpPr>
            <a:cxnSpLocks/>
            <a:stCxn id="15" idx="0"/>
            <a:endCxn id="37" idx="2"/>
          </p:cNvCxnSpPr>
          <p:nvPr/>
        </p:nvCxnSpPr>
        <p:spPr>
          <a:xfrm flipH="1" flipV="1">
            <a:off x="4859349" y="3165664"/>
            <a:ext cx="1" cy="61246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281E2F5-AD26-60E8-F0B5-AA393F0D1AA3}"/>
              </a:ext>
            </a:extLst>
          </p:cNvPr>
          <p:cNvSpPr/>
          <p:nvPr/>
        </p:nvSpPr>
        <p:spPr>
          <a:xfrm>
            <a:off x="3889912" y="2800189"/>
            <a:ext cx="1938873" cy="365475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decrypted_aes_key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C055B29-4801-1D07-F232-058ABC337E68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4859349" y="2063725"/>
            <a:ext cx="1160104" cy="73646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4031536-2422-1F75-204E-125476E55F67}"/>
              </a:ext>
            </a:extLst>
          </p:cNvPr>
          <p:cNvSpPr/>
          <p:nvPr/>
        </p:nvSpPr>
        <p:spPr>
          <a:xfrm>
            <a:off x="6614818" y="2800188"/>
            <a:ext cx="1938873" cy="365475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xor_key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8021B71-AEA6-E037-7B25-A728A35C6DE0}"/>
              </a:ext>
            </a:extLst>
          </p:cNvPr>
          <p:cNvSpPr/>
          <p:nvPr/>
        </p:nvSpPr>
        <p:spPr>
          <a:xfrm>
            <a:off x="6506867" y="3778126"/>
            <a:ext cx="2154773" cy="971974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Google Chrome</a:t>
            </a:r>
          </a:p>
          <a:p>
            <a:pPr algn="ctr"/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Hardcoded bytes</a:t>
            </a:r>
            <a:br>
              <a:rPr lang="en-US" altLang="ko-KR" sz="1100"/>
            </a:br>
            <a:r>
              <a:rPr lang="en-US" altLang="ko-KR" sz="900"/>
              <a:t>(chrome.dll? elevation_service.exe?)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82B2818-8E44-A1EF-E5CE-166FD795898B}"/>
              </a:ext>
            </a:extLst>
          </p:cNvPr>
          <p:cNvCxnSpPr>
            <a:cxnSpLocks/>
          </p:cNvCxnSpPr>
          <p:nvPr/>
        </p:nvCxnSpPr>
        <p:spPr>
          <a:xfrm flipH="1" flipV="1">
            <a:off x="7584253" y="3185980"/>
            <a:ext cx="1" cy="61246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FF9E1E9-671F-AC93-009F-518FF18F10B0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6373707" y="2063725"/>
            <a:ext cx="1210548" cy="736463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순서도: 논리합 52">
            <a:extLst>
              <a:ext uri="{FF2B5EF4-FFF2-40B4-BE49-F238E27FC236}">
                <a16:creationId xmlns:a16="http://schemas.microsoft.com/office/drawing/2014/main" id="{63CB7AFB-6441-81A1-BDE2-FF4E5440B587}"/>
              </a:ext>
            </a:extLst>
          </p:cNvPr>
          <p:cNvSpPr/>
          <p:nvPr/>
        </p:nvSpPr>
        <p:spPr>
          <a:xfrm>
            <a:off x="6048567" y="1799011"/>
            <a:ext cx="267632" cy="229665"/>
          </a:xfrm>
          <a:prstGeom prst="flowChartOr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16DCA2F-2841-A5A0-B5D6-C323B8C1BAF8}"/>
              </a:ext>
            </a:extLst>
          </p:cNvPr>
          <p:cNvSpPr/>
          <p:nvPr/>
        </p:nvSpPr>
        <p:spPr>
          <a:xfrm>
            <a:off x="5212946" y="999899"/>
            <a:ext cx="1938873" cy="365475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v20_master_key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460C443-27A7-184E-5ECF-269C74C5225F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6182383" y="1365374"/>
            <a:ext cx="0" cy="32858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92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  <p:bldP spid="6" grpId="0" animBg="1"/>
      <p:bldP spid="6" grpId="1" animBg="1"/>
      <p:bldP spid="9" grpId="0" animBg="1"/>
      <p:bldP spid="15" grpId="0" animBg="1"/>
      <p:bldP spid="26" grpId="0" animBg="1"/>
      <p:bldP spid="37" grpId="0" animBg="1"/>
      <p:bldP spid="44" grpId="0" animBg="1"/>
      <p:bldP spid="46" grpId="0" animBg="1"/>
      <p:bldP spid="53" grpId="0" animBg="1"/>
      <p:bldP spid="5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1ACB602-ECF7-9AE0-468A-08912A44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DB570CD-2AFA-357D-01B4-86504BAD918E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Okay... I'm ready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Let's go!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BAB583A-75A6-148D-3B11-EA24785833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Go Go GO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1BEF219-3E34-DEC4-CF06-1C9D2CA294A2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458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6CF2D6F-E1C0-3B65-2D80-9502CA18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5ED6120-4D9E-77B7-0081-814F8F689358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1F16020-860D-247C-A8FD-6C29A83D7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sz="1600"/>
              <a:t>script.py :: impersonate(lsass.exe)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87AD255-B5A5-9A10-CF02-4CF78390C899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ECB8689-71CB-A429-9EA6-2A23A834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06" y="1162202"/>
            <a:ext cx="8548947" cy="24093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F5054F6-3C2B-37D6-6E85-0A1451D31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59" y="745066"/>
            <a:ext cx="3839141" cy="40090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2B7448-D113-97A3-EE9D-81E5376D0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10" y="2366934"/>
            <a:ext cx="7916380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3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9451711-2BAC-0D2D-16D6-D76BA3FD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71B64105-0287-0E3F-625A-4788623A81F5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C1E57E2-86D8-8BFC-9108-0D7CF0933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/>
              <a:t>script.py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286A2B-A583-550B-5F82-E4AD86C4E164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6EAC2C2-F25A-3871-E0AB-80030ABB7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190" y="809916"/>
            <a:ext cx="4089620" cy="42125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928E96C-6184-0250-E414-9CE958D7D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233" y="1864701"/>
            <a:ext cx="2437405" cy="7989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DC4C40D-19B9-C95C-1953-387709B49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757" y="745066"/>
            <a:ext cx="2728645" cy="4212567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870C5B3-795F-0F5C-041B-9B9C8CF7DAF4}"/>
              </a:ext>
            </a:extLst>
          </p:cNvPr>
          <p:cNvSpPr/>
          <p:nvPr/>
        </p:nvSpPr>
        <p:spPr>
          <a:xfrm>
            <a:off x="7131601" y="1488366"/>
            <a:ext cx="1094444" cy="274586"/>
          </a:xfrm>
          <a:prstGeom prst="roundRect">
            <a:avLst/>
          </a:prstGeom>
          <a:noFill/>
          <a:ln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ValidateData</a:t>
            </a:r>
          </a:p>
        </p:txBody>
      </p:sp>
    </p:spTree>
    <p:extLst>
      <p:ext uri="{BB962C8B-B14F-4D97-AF65-F5344CB8AC3E}">
        <p14:creationId xmlns:p14="http://schemas.microsoft.com/office/powerpoint/2010/main" val="282927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025B63B-6962-ACD7-502C-4F10F5F9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BE16564-6DA0-4922-DB74-DAEA6E2CCF96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E52D22A-3945-72D5-B8F4-1D089C8A6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/>
              <a:t>script.py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3F5870-FAFA-FA73-EBD4-E35CDF826D0D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8FAB23F-80A4-F3FC-710C-87463309B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658" y="824530"/>
            <a:ext cx="2992736" cy="411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79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2A4E6B2-FF85-2D34-993B-A3740CC7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05B4082-5200-A43F-F432-4B8E4AFF0EC0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5755639-9476-15AE-558B-87B2D881E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/>
              <a:t>script.py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DA7A0A-C276-EC4B-0757-98749E583B33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005F50D-661F-C74B-05FC-6AB68E09A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5" y="985616"/>
            <a:ext cx="7059010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30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F27722D-D459-FEDC-B943-9943AA81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71B673B-2C65-293B-EAE3-48899B9BDC35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D6AF76D-70C1-D32A-66B0-A08C9D43FE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/>
              <a:t>script.py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26FF492-A8C7-80E4-23A9-AFB0CF616107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FDF1B16-0EAB-7042-EDF9-EE0C9C458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032" y="715790"/>
            <a:ext cx="3609988" cy="439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64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8E361E8-CE8E-10BA-843E-E3B028C8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10F2341-13F2-F7AF-2EED-720345552AA1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709D71E-7355-8D89-4757-9E9229DA0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/>
              <a:t>Run script.py as a admin.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216893C-0528-D505-F26D-4FD4CB22187C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F8F3F69-8E4D-AD61-F007-722239B3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95" y="883626"/>
            <a:ext cx="2437405" cy="7989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BBF6988-0595-D231-9445-84B4137BC6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531"/>
          <a:stretch>
            <a:fillRect/>
          </a:stretch>
        </p:blipFill>
        <p:spPr>
          <a:xfrm>
            <a:off x="572495" y="1816711"/>
            <a:ext cx="6134100" cy="83094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65DFEB2-67A5-CED0-5A17-B53B8758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60" t="31556" r="3322" b="39967"/>
          <a:stretch>
            <a:fillRect/>
          </a:stretch>
        </p:blipFill>
        <p:spPr>
          <a:xfrm>
            <a:off x="572495" y="2792356"/>
            <a:ext cx="5803900" cy="206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47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3ECD268-4934-4683-4C93-4927175A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8278BF2-FEC0-0FFA-6E4F-6A9F9DC9B0C0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신기하면 써보셈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스크립트는 관리자 권한으로 실행되어야 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크롬만 가능함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BD49513-C08A-E032-C4CC-58859D803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5E04590-8179-3824-B521-240FFBD41EE2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개체 1">
            <a:hlinkClick r:id="rId3"/>
            <a:extLst>
              <a:ext uri="{FF2B5EF4-FFF2-40B4-BE49-F238E27FC236}">
                <a16:creationId xmlns:a16="http://schemas.microsoft.com/office/drawing/2014/main" id="{973AAC18-B45E-CFC1-58D2-AACCCEAE0D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402244"/>
              </p:ext>
            </p:extLst>
          </p:nvPr>
        </p:nvGraphicFramePr>
        <p:xfrm>
          <a:off x="3500437" y="2314575"/>
          <a:ext cx="2143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4" imgW="2142992" imgH="514350" progId="Package">
                  <p:embed/>
                </p:oleObj>
              </mc:Choice>
              <mc:Fallback>
                <p:oleObj name="포장기 셸 개체" showAsIcon="1" r:id="rId4" imgW="214299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0437" y="2314575"/>
                        <a:ext cx="21431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4140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889641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599"/>
              <a:t>Thank you</a:t>
            </a:r>
            <a:endParaRPr sz="3599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0F08A06-6F31-4456-FE10-1D077032A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FA639DB-4E3A-F8CE-F5BD-1FC97EA26F68}"/>
              </a:ext>
            </a:extLst>
          </p:cNvPr>
          <p:cNvSpPr txBox="1"/>
          <p:nvPr/>
        </p:nvSpPr>
        <p:spPr>
          <a:xfrm flipH="1">
            <a:off x="452549" y="745066"/>
            <a:ext cx="8118955" cy="427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9819904-5FC8-54AB-8E43-25453222A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57D671-EC9B-D76D-61FA-30FCDC4B7245}"/>
              </a:ext>
            </a:extLst>
          </p:cNvPr>
          <p:cNvCxnSpPr/>
          <p:nvPr/>
        </p:nvCxnSpPr>
        <p:spPr>
          <a:xfrm>
            <a:off x="407902" y="610907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813271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5041</TotalTime>
  <Words>723</Words>
  <Application>Microsoft Office PowerPoint</Application>
  <PresentationFormat>화면 슬라이드 쇼(16:9)</PresentationFormat>
  <Paragraphs>247</Paragraphs>
  <Slides>25</Slides>
  <Notes>25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9" baseType="lpstr">
      <vt:lpstr>페이퍼로지 4 Regular</vt:lpstr>
      <vt:lpstr>페이퍼로지 7 Bold</vt:lpstr>
      <vt:lpstr>페이퍼로지 3 Light</vt:lpstr>
      <vt:lpstr>Arial</vt:lpstr>
      <vt:lpstr>페이퍼로지 9 Black</vt:lpstr>
      <vt:lpstr>Cascadia Mono</vt:lpstr>
      <vt:lpstr>Montserrat</vt:lpstr>
      <vt:lpstr>Montserrat Medium</vt:lpstr>
      <vt:lpstr>페이퍼로지 1 Thin</vt:lpstr>
      <vt:lpstr>페이퍼로지 6 SemiBold</vt:lpstr>
      <vt:lpstr>페이퍼로지 2 ExtraLight</vt:lpstr>
      <vt:lpstr>맑은 고딕</vt:lpstr>
      <vt:lpstr>Energy Infographics by Slidesgo</vt:lpstr>
      <vt:lpstr>포장기 셸 개체</vt:lpstr>
      <vt:lpstr>그래. 함 해보자..</vt:lpstr>
      <vt:lpstr>Overview</vt:lpstr>
      <vt:lpstr>Rewind &amp; Update</vt:lpstr>
      <vt:lpstr>Login Data</vt:lpstr>
      <vt:lpstr>Login Data logins table</vt:lpstr>
      <vt:lpstr>Column: password_value</vt:lpstr>
      <vt:lpstr>TODO: Simulation</vt:lpstr>
      <vt:lpstr>PowerPoint 프레젠테이션</vt:lpstr>
      <vt:lpstr>Solution</vt:lpstr>
      <vt:lpstr>Windows CNG</vt:lpstr>
      <vt:lpstr>Windows CNG -exports</vt:lpstr>
      <vt:lpstr>xor_key</vt:lpstr>
      <vt:lpstr>xor_key</vt:lpstr>
      <vt:lpstr>xor_key</vt:lpstr>
      <vt:lpstr>Rewind &amp; Update</vt:lpstr>
      <vt:lpstr>Go Go GO</vt:lpstr>
      <vt:lpstr>script.py :: impersonate(lsass.exe)</vt:lpstr>
      <vt:lpstr>script.py</vt:lpstr>
      <vt:lpstr>script.py</vt:lpstr>
      <vt:lpstr>script.py</vt:lpstr>
      <vt:lpstr>script.py</vt:lpstr>
      <vt:lpstr>Run script.py as a admin.</vt:lpstr>
      <vt:lpstr>Overview</vt:lpstr>
      <vt:lpstr>Thank you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990</cp:revision>
  <dcterms:created xsi:type="dcterms:W3CDTF">2026-02-25T09:00:40Z</dcterms:created>
  <dcterms:modified xsi:type="dcterms:W3CDTF">2026-07-28T05:53:12Z</dcterms:modified>
</cp:coreProperties>
</file>