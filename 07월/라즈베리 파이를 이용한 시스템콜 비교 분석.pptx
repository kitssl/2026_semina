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59" r:id="rId3"/>
    <p:sldId id="258" r:id="rId4"/>
    <p:sldId id="261" r:id="rId5"/>
    <p:sldId id="260" r:id="rId6"/>
    <p:sldId id="262" r:id="rId7"/>
    <p:sldId id="263" r:id="rId8"/>
    <p:sldId id="266" r:id="rId9"/>
    <p:sldId id="267" r:id="rId10"/>
    <p:sldId id="275" r:id="rId11"/>
    <p:sldId id="269" r:id="rId12"/>
    <p:sldId id="270" r:id="rId13"/>
    <p:sldId id="271" r:id="rId14"/>
    <p:sldId id="272" r:id="rId15"/>
    <p:sldId id="273" r:id="rId16"/>
    <p:sldId id="274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8"/>
        <p:guide pos="383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presProps" Target="presProps.xml"  /><Relationship Id="rId19" Type="http://schemas.openxmlformats.org/officeDocument/2006/relationships/viewProps" Target="viewProps.xml"  /><Relationship Id="rId2" Type="http://schemas.openxmlformats.org/officeDocument/2006/relationships/slide" Target="slides/slide1.xml"  /><Relationship Id="rId20" Type="http://schemas.openxmlformats.org/officeDocument/2006/relationships/theme" Target="theme/theme1.xml"  /><Relationship Id="rId21" Type="http://schemas.openxmlformats.org/officeDocument/2006/relationships/tableStyles" Target="tableStyles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.png"  /><Relationship Id="rId3" Type="http://schemas.openxmlformats.org/officeDocument/2006/relationships/image" Target="../media/image5.png"  /><Relationship Id="rId4" Type="http://schemas.openxmlformats.org/officeDocument/2006/relationships/image" Target="../media/image4.png"  /><Relationship Id="rId5" Type="http://schemas.openxmlformats.org/officeDocument/2006/relationships/image" Target="../media/image6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7.png"  /><Relationship Id="rId3" Type="http://schemas.openxmlformats.org/officeDocument/2006/relationships/image" Target="../media/image8.png"  /><Relationship Id="rId4" Type="http://schemas.openxmlformats.org/officeDocument/2006/relationships/image" Target="../media/image9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0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7.png"  /><Relationship Id="rId3" Type="http://schemas.openxmlformats.org/officeDocument/2006/relationships/image" Target="../media/image6.png"  /><Relationship Id="rId4" Type="http://schemas.openxmlformats.org/officeDocument/2006/relationships/image" Target="../media/image8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1.png"  /><Relationship Id="rId3" Type="http://schemas.openxmlformats.org/officeDocument/2006/relationships/image" Target="../media/image12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3.png"  /><Relationship Id="rId3" Type="http://schemas.openxmlformats.org/officeDocument/2006/relationships/image" Target="../media/image14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라즈베리 파이를 이용한</a:t>
            </a:r>
            <a:br>
              <a:rPr lang="ko-KR" altLang="en-US"/>
            </a:br>
            <a:r>
              <a:rPr lang="ko-KR" altLang="en-US"/>
              <a:t>시스템콜 비교 분석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p>
            <a:pPr lvl="0">
              <a:defRPr/>
            </a:pPr>
            <a:r>
              <a:rPr lang="en-US" altLang="ko-KR"/>
              <a:t>2026114772</a:t>
            </a:r>
            <a:r>
              <a:rPr lang="ko-KR" altLang="en-US"/>
              <a:t> 컴퓨터공학부 김담희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7553928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목차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p>
            <a:pPr marL="0" lvl="0" indent="0">
              <a:buNone/>
              <a:defRPr/>
            </a:pPr>
            <a:r>
              <a:rPr lang="en-US" altLang="ko-KR"/>
              <a:t>1.</a:t>
            </a:r>
            <a:r>
              <a:rPr lang="ko-KR" altLang="en-US"/>
              <a:t> 주제 선정 이유</a:t>
            </a:r>
            <a:endParaRPr lang="ko-KR" altLang="en-US"/>
          </a:p>
          <a:p>
            <a:pPr marL="0" lvl="0" indent="0">
              <a:buNone/>
              <a:defRPr/>
            </a:pPr>
            <a:r>
              <a:rPr lang="en-US" altLang="ko-KR"/>
              <a:t>2.</a:t>
            </a:r>
            <a:r>
              <a:rPr lang="ko-KR" altLang="en-US"/>
              <a:t> 운영체제란</a:t>
            </a:r>
            <a:r>
              <a:rPr lang="en-US" altLang="ko-KR"/>
              <a:t>?</a:t>
            </a:r>
            <a:endParaRPr lang="en-US" altLang="ko-KR"/>
          </a:p>
          <a:p>
            <a:pPr marL="0" lvl="0" indent="0">
              <a:buNone/>
              <a:defRPr/>
            </a:pPr>
            <a:r>
              <a:rPr lang="en-US" altLang="ko-KR"/>
              <a:t>3.</a:t>
            </a:r>
            <a:r>
              <a:rPr lang="ko-KR" altLang="en-US"/>
              <a:t> 커널과 사용자 인터페이스</a:t>
            </a:r>
            <a:endParaRPr lang="ko-KR" altLang="en-US"/>
          </a:p>
          <a:p>
            <a:pPr marL="0" lvl="0" indent="0">
              <a:buNone/>
              <a:defRPr/>
            </a:pPr>
            <a:r>
              <a:rPr lang="en-US" altLang="ko-KR"/>
              <a:t>4.</a:t>
            </a:r>
            <a:r>
              <a:rPr lang="ko-KR" altLang="en-US"/>
              <a:t> 이중모드</a:t>
            </a:r>
            <a:r>
              <a:rPr lang="en-US" altLang="ko-KR"/>
              <a:t>:</a:t>
            </a:r>
            <a:r>
              <a:rPr lang="ko-KR" altLang="en-US"/>
              <a:t> 사용자모드 </a:t>
            </a:r>
            <a:r>
              <a:rPr lang="en-US" altLang="ko-KR"/>
              <a:t>VS</a:t>
            </a:r>
            <a:r>
              <a:rPr lang="ko-KR" altLang="en-US"/>
              <a:t> 커널모드</a:t>
            </a:r>
            <a:endParaRPr lang="ko-KR" altLang="en-US"/>
          </a:p>
          <a:p>
            <a:pPr marL="0" lvl="0" indent="0">
              <a:buNone/>
              <a:defRPr/>
            </a:pPr>
            <a:r>
              <a:rPr lang="en-US" altLang="ko-KR"/>
              <a:t>5.</a:t>
            </a:r>
            <a:r>
              <a:rPr lang="ko-KR" altLang="en-US"/>
              <a:t> 라즈베리파이란</a:t>
            </a:r>
            <a:r>
              <a:rPr lang="en-US" altLang="ko-KR"/>
              <a:t>?</a:t>
            </a:r>
            <a:endParaRPr lang="en-US" altLang="ko-KR"/>
          </a:p>
          <a:p>
            <a:pPr marL="0" lvl="0" indent="0">
              <a:buNone/>
              <a:defRPr/>
            </a:pPr>
            <a:r>
              <a:rPr lang="en-US" altLang="ko-KR"/>
              <a:t>6.</a:t>
            </a:r>
            <a:r>
              <a:rPr lang="ko-KR" altLang="en-US"/>
              <a:t> 실습</a:t>
            </a:r>
            <a:r>
              <a:rPr lang="en-US" altLang="ko-KR"/>
              <a:t>:</a:t>
            </a:r>
            <a:r>
              <a:rPr lang="ko-KR" altLang="en-US"/>
              <a:t> 시스템콜은 언제 발생하는가</a:t>
            </a:r>
            <a:endParaRPr lang="ko-KR" altLang="en-US"/>
          </a:p>
          <a:p>
            <a:pPr marL="0" lvl="0" indent="0">
              <a:buNone/>
              <a:defRPr/>
            </a:pPr>
            <a:r>
              <a:rPr lang="en-US" altLang="ko-KR"/>
              <a:t>7.</a:t>
            </a:r>
            <a:r>
              <a:rPr lang="ko-KR" altLang="en-US"/>
              <a:t> 마무리</a:t>
            </a:r>
            <a:endParaRPr lang="ko-KR" altLang="en-US"/>
          </a:p>
          <a:p>
            <a:pPr marL="0" lvl="0" indent="0">
              <a:buNone/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1362931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927553"/>
          </a:xfrm>
        </p:spPr>
        <p:txBody>
          <a:bodyPr/>
          <a:p>
            <a:pPr lvl="0">
              <a:defRPr/>
            </a:pPr>
            <a:r>
              <a:rPr lang="en-US" altLang="ko-KR"/>
              <a:t>1.</a:t>
            </a:r>
            <a:r>
              <a:rPr lang="ko-KR" altLang="en-US"/>
              <a:t> 주제 선정 이유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608081" y="1600200"/>
            <a:ext cx="4974315" cy="4525963"/>
          </a:xfrm>
        </p:spPr>
        <p:txBody>
          <a:bodyPr/>
          <a:p>
            <a:pPr lvl="0">
              <a:defRPr/>
            </a:pPr>
            <a:r>
              <a:rPr lang="ko-KR" altLang="en-US" sz="2500"/>
              <a:t>방학때 심심해서 읽어봄</a:t>
            </a:r>
            <a:endParaRPr lang="ko-KR" altLang="en-US" sz="2500"/>
          </a:p>
          <a:p>
            <a:pPr lvl="0">
              <a:defRPr/>
            </a:pPr>
            <a:r>
              <a:rPr lang="ko-KR" altLang="en-US" sz="2500"/>
              <a:t>컴퓨터 구조파트 다 읽고 </a:t>
            </a:r>
            <a:br>
              <a:rPr lang="ko-KR" altLang="en-US" sz="2500"/>
            </a:br>
            <a:r>
              <a:rPr lang="ko-KR" altLang="en-US" sz="2500"/>
              <a:t>운영체제 파트에서 커널모드랑 사용자모드가 흥미로움</a:t>
            </a:r>
            <a:endParaRPr lang="ko-KR" altLang="en-US" sz="2500"/>
          </a:p>
          <a:p>
            <a:pPr lvl="0">
              <a:defRPr/>
            </a:pPr>
            <a:r>
              <a:rPr lang="ko-KR" altLang="en-US" sz="2500"/>
              <a:t>아빠가 방학때 가지고 놀라던 </a:t>
            </a:r>
            <a:br>
              <a:rPr lang="ko-KR" altLang="en-US" sz="2500"/>
            </a:br>
            <a:r>
              <a:rPr lang="ko-KR" altLang="en-US" sz="2500"/>
              <a:t>라즈베리파이가 생각남</a:t>
            </a:r>
            <a:endParaRPr lang="ko-KR" altLang="en-US" sz="2500"/>
          </a:p>
          <a:p>
            <a:pPr lvl="0">
              <a:defRPr/>
            </a:pPr>
            <a:r>
              <a:rPr lang="ko-KR" altLang="en-US" sz="2500"/>
              <a:t>근데 집에 모니터 등등 장비가 없어서 못했음</a:t>
            </a:r>
            <a:endParaRPr lang="ko-KR" altLang="en-US" sz="2500"/>
          </a:p>
          <a:p>
            <a:pPr marL="0" lvl="0" indent="0">
              <a:buNone/>
              <a:defRPr/>
            </a:pPr>
            <a:r>
              <a:rPr lang="en-US" altLang="ko-KR" sz="2500"/>
              <a:t>=&gt;</a:t>
            </a:r>
            <a:r>
              <a:rPr lang="ko-KR" altLang="en-US" sz="2500"/>
              <a:t> 실습을 해볼까</a:t>
            </a:r>
            <a:r>
              <a:rPr lang="en-US" altLang="ko-KR" sz="2500"/>
              <a:t>?</a:t>
            </a:r>
            <a:endParaRPr lang="en-US" altLang="ko-KR" sz="250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48249" y="1202191"/>
            <a:ext cx="4261114" cy="5148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76220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927553"/>
          </a:xfrm>
        </p:spPr>
        <p:txBody>
          <a:bodyPr/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운영체제란</a:t>
            </a:r>
            <a:r>
              <a:rPr lang="en-US" altLang="ko-KR"/>
              <a:t>?</a:t>
            </a:r>
            <a:endParaRPr lang="en-US" altLang="ko-KR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2812" y="1360941"/>
            <a:ext cx="11199584" cy="4889953"/>
          </a:xfrm>
        </p:spPr>
        <p:txBody>
          <a:bodyPr>
            <a:normAutofit lnSpcReduction="10000"/>
          </a:bodyPr>
          <a:p>
            <a:pPr lvl="0">
              <a:defRPr/>
            </a:pPr>
            <a:r>
              <a:rPr lang="ko-KR" altLang="en-US" sz="2500"/>
              <a:t>시스템 자원: 프로그램 실행에 필요한 요소</a:t>
            </a:r>
            <a:endParaRPr lang="ko-KR" altLang="en-US" sz="2500"/>
          </a:p>
          <a:p>
            <a:pPr lvl="1">
              <a:defRPr/>
            </a:pPr>
            <a:r>
              <a:rPr lang="ko-KR" altLang="en-US" sz="2500"/>
              <a:t>ex) CPU, 메모리, 디스크, 입출력장치 등</a:t>
            </a:r>
            <a:endParaRPr lang="ko-KR" altLang="en-US" sz="2500"/>
          </a:p>
          <a:p>
            <a:pPr lvl="0">
              <a:defRPr/>
            </a:pPr>
            <a:endParaRPr lang="ko-KR" altLang="en-US" sz="2500"/>
          </a:p>
          <a:p>
            <a:pPr lvl="0">
              <a:defRPr/>
            </a:pPr>
            <a:r>
              <a:rPr lang="ko-KR" altLang="en-US" sz="2500"/>
              <a:t>운영체제란? </a:t>
            </a:r>
            <a:br>
              <a:rPr lang="ko-KR" altLang="en-US" sz="2500"/>
            </a:br>
            <a:r>
              <a:rPr lang="ko-KR" altLang="en-US" sz="2500"/>
              <a:t>실행할 프로그램에 필요한 자원을 할당하고 </a:t>
            </a:r>
            <a:br>
              <a:rPr lang="ko-KR" altLang="en-US" sz="2500"/>
            </a:br>
            <a:r>
              <a:rPr lang="ko-KR" altLang="en-US" sz="2500"/>
              <a:t>프로그램이 올바르게 실행되도록 돕는 프로그램</a:t>
            </a:r>
            <a:endParaRPr lang="ko-KR" altLang="en-US" sz="2500"/>
          </a:p>
          <a:p>
            <a:pPr lvl="1">
              <a:defRPr/>
            </a:pPr>
            <a:r>
              <a:rPr lang="ko-KR" altLang="en-US" sz="2500"/>
              <a:t>ex) Windows, macOS, Linux (Raspberry Pi OS도 포함)</a:t>
            </a:r>
            <a:endParaRPr lang="ko-KR" altLang="en-US" sz="2500"/>
          </a:p>
          <a:p>
            <a:pPr lvl="0">
              <a:defRPr/>
            </a:pPr>
            <a:endParaRPr lang="ko-KR" altLang="en-US" sz="2500"/>
          </a:p>
          <a:p>
            <a:pPr lvl="0">
              <a:defRPr/>
            </a:pPr>
            <a:r>
              <a:rPr lang="ko-KR" altLang="en-US" sz="2500"/>
              <a:t>왜 필요한가?</a:t>
            </a:r>
            <a:br>
              <a:rPr lang="ko-KR" altLang="en-US" sz="2500"/>
            </a:br>
            <a:r>
              <a:rPr lang="ko-KR" altLang="en-US" sz="2500"/>
              <a:t>여러 프로그램이 자원에 동시에 접근하려 하면 충돌 발생</a:t>
            </a:r>
            <a:endParaRPr lang="ko-KR" altLang="en-US" sz="2500"/>
          </a:p>
          <a:p>
            <a:pPr marL="0" lvl="0" indent="0">
              <a:buNone/>
              <a:defRPr/>
            </a:pPr>
            <a:r>
              <a:rPr lang="ko-KR" altLang="en-US" sz="2500"/>
              <a:t>     → 운영체제가 자원을 중재/관리해야 함</a:t>
            </a:r>
            <a:endParaRPr lang="ko-KR" altLang="en-US" sz="2500"/>
          </a:p>
        </p:txBody>
      </p:sp>
    </p:spTree>
    <p:extLst>
      <p:ext uri="{BB962C8B-B14F-4D97-AF65-F5344CB8AC3E}">
        <p14:creationId xmlns:p14="http://schemas.microsoft.com/office/powerpoint/2010/main" val="2057938060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927553"/>
          </a:xfrm>
        </p:spPr>
        <p:txBody>
          <a:bodyPr/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운영체제란</a:t>
            </a:r>
            <a:r>
              <a:rPr lang="en-US" altLang="ko-KR"/>
              <a:t>?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1475" y="1418771"/>
            <a:ext cx="11619138" cy="1600427"/>
          </a:xfrm>
        </p:spPr>
        <p:txBody>
          <a:bodyPr/>
          <a:p>
            <a:pPr lvl="0">
              <a:defRPr/>
            </a:pPr>
            <a:r>
              <a:rPr lang="ko-KR" altLang="en-US" sz="2500"/>
              <a:t>운영체제의 역할</a:t>
            </a:r>
            <a:endParaRPr lang="ko-KR" altLang="en-US" sz="2500"/>
          </a:p>
          <a:p>
            <a:pPr marL="457200" lvl="1" indent="0">
              <a:buNone/>
              <a:defRPr/>
            </a:pPr>
            <a:r>
              <a:rPr lang="en-US" altLang="ko-KR" sz="2500"/>
              <a:t>:</a:t>
            </a:r>
            <a:r>
              <a:rPr lang="ko-KR" altLang="en-US" sz="2500"/>
              <a:t> 응용 프로그램과 하드웨어 사이에서 응용 프로그램에 필요한 자원을 할당하고</a:t>
            </a:r>
            <a:r>
              <a:rPr lang="en-US" altLang="ko-KR" sz="2500"/>
              <a:t>,</a:t>
            </a:r>
            <a:r>
              <a:rPr lang="ko-KR" altLang="en-US" sz="2500"/>
              <a:t> 응용 프로그램이 올바르게 실행되도록 관리</a:t>
            </a:r>
            <a:endParaRPr lang="ko-KR" altLang="en-US" sz="2500"/>
          </a:p>
          <a:p>
            <a:pPr lvl="0">
              <a:defRPr/>
            </a:pPr>
            <a:endParaRPr lang="ko-KR" altLang="en-US" sz="250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622604" y="2733411"/>
            <a:ext cx="8620573" cy="3877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235029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927553"/>
          </a:xfrm>
        </p:spPr>
        <p:txBody>
          <a:bodyPr/>
          <a:p>
            <a:pPr marL="0" lvl="0" indent="0">
              <a:buNone/>
              <a:defRPr/>
            </a:pPr>
            <a:r>
              <a:rPr lang="en-US" altLang="ko-KR"/>
              <a:t>3.</a:t>
            </a:r>
            <a:r>
              <a:rPr lang="ko-KR" altLang="en-US"/>
              <a:t> 커널과 사용자 인터페이스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677682" y="1398024"/>
            <a:ext cx="7400923" cy="5070248"/>
          </a:xfrm>
        </p:spPr>
        <p:txBody>
          <a:bodyPr>
            <a:normAutofit lnSpcReduction="10000"/>
          </a:bodyPr>
          <a:p>
            <a:pPr lvl="0">
              <a:defRPr/>
            </a:pPr>
            <a:r>
              <a:rPr lang="ko-KR" altLang="en-US" sz="2500"/>
              <a:t>커널</a:t>
            </a:r>
            <a:endParaRPr lang="ko-KR" altLang="en-US" sz="2500"/>
          </a:p>
          <a:p>
            <a:pPr marL="457200" lvl="1" indent="0">
              <a:buNone/>
              <a:defRPr/>
            </a:pPr>
            <a:r>
              <a:rPr lang="en-US" altLang="ko-KR" sz="2500"/>
              <a:t>:</a:t>
            </a:r>
            <a:r>
              <a:rPr lang="ko-KR" altLang="en-US" sz="2500"/>
              <a:t> 운영체제의 핵심 서비스를 담당하는 부분</a:t>
            </a:r>
            <a:endParaRPr lang="ko-KR" altLang="en-US" sz="2500"/>
          </a:p>
          <a:p>
            <a:pPr marL="457200" lvl="1" indent="0">
              <a:buNone/>
              <a:defRPr/>
            </a:pPr>
            <a:endParaRPr lang="ko-KR" altLang="en-US" sz="2500"/>
          </a:p>
          <a:p>
            <a:pPr lvl="0">
              <a:defRPr/>
            </a:pPr>
            <a:r>
              <a:rPr lang="ko-KR" altLang="en-US" sz="2500"/>
              <a:t>사용자 인터페이스</a:t>
            </a:r>
            <a:endParaRPr lang="en-US" altLang="ko-KR" sz="2500"/>
          </a:p>
          <a:p>
            <a:pPr marL="0" lvl="0" indent="0">
              <a:buNone/>
              <a:defRPr/>
            </a:pPr>
            <a:r>
              <a:rPr lang="ko-KR" altLang="en-US" sz="2500"/>
              <a:t>       </a:t>
            </a:r>
            <a:r>
              <a:rPr lang="en-US" altLang="ko-KR" sz="2500"/>
              <a:t>:</a:t>
            </a:r>
            <a:r>
              <a:rPr lang="ko-KR" altLang="en-US" sz="2500"/>
              <a:t> 사용자가 컴퓨터랑 상호작용할 수 있는 통로   	</a:t>
            </a:r>
            <a:r>
              <a:rPr lang="en-US" altLang="ko-KR" sz="2500"/>
              <a:t>ex) GUI,CLI </a:t>
            </a:r>
            <a:r>
              <a:rPr lang="ko-KR" altLang="en-US" sz="2500"/>
              <a:t> </a:t>
            </a:r>
            <a:endParaRPr lang="ko-KR" altLang="en-US" sz="2500"/>
          </a:p>
          <a:p>
            <a:pPr marL="0" lvl="0" indent="0">
              <a:buNone/>
              <a:defRPr/>
            </a:pPr>
            <a:endParaRPr lang="ko-KR" altLang="en-US" sz="250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06160" y="1500077"/>
            <a:ext cx="4242848" cy="4061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728074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marL="0" lvl="0" indent="0">
              <a:buNone/>
              <a:defRPr/>
            </a:pPr>
            <a:r>
              <a:rPr lang="en-US" altLang="ko-KR"/>
              <a:t>4.</a:t>
            </a:r>
            <a:r>
              <a:rPr lang="ko-KR" altLang="en-US"/>
              <a:t> 이중모드</a:t>
            </a:r>
            <a:r>
              <a:rPr lang="en-US" altLang="ko-KR"/>
              <a:t>:</a:t>
            </a:r>
            <a:r>
              <a:rPr lang="ko-KR" altLang="en-US"/>
              <a:t> 사용자모드 </a:t>
            </a:r>
            <a:r>
              <a:rPr lang="en-US" altLang="ko-KR"/>
              <a:t>VS</a:t>
            </a:r>
            <a:r>
              <a:rPr lang="ko-KR" altLang="en-US"/>
              <a:t> 커널모드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r="53066" b="34312"/>
          <a:stretch>
            <a:fillRect/>
          </a:stretch>
        </p:blipFill>
        <p:spPr>
          <a:xfrm>
            <a:off x="242419" y="1417638"/>
            <a:ext cx="3244641" cy="188991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000056" y="1716016"/>
            <a:ext cx="6328015" cy="368200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4"/>
          <a:srcRect l="46698" t="27357"/>
          <a:stretch>
            <a:fillRect/>
          </a:stretch>
        </p:blipFill>
        <p:spPr>
          <a:xfrm>
            <a:off x="215870" y="3429000"/>
            <a:ext cx="3297740" cy="1870445"/>
          </a:xfrm>
          <a:prstGeom prst="rect">
            <a:avLst/>
          </a:prstGeom>
        </p:spPr>
      </p:pic>
      <p:sp>
        <p:nvSpPr>
          <p:cNvPr id="7" name="폭발 1 6"/>
          <p:cNvSpPr/>
          <p:nvPr/>
        </p:nvSpPr>
        <p:spPr>
          <a:xfrm>
            <a:off x="2205721" y="2340428"/>
            <a:ext cx="2562678" cy="2177142"/>
          </a:xfrm>
          <a:prstGeom prst="irregularSeal1">
            <a:avLst/>
          </a:prstGeom>
          <a:solidFill>
            <a:srgbClr val="ff000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/>
              <a:t>멸망</a:t>
            </a:r>
            <a:endParaRPr lang="ko-KR" altLang="en-US"/>
          </a:p>
        </p:txBody>
      </p:sp>
      <p:sp>
        <p:nvSpPr>
          <p:cNvPr id="9" name="타원형 설명선 8"/>
          <p:cNvSpPr/>
          <p:nvPr/>
        </p:nvSpPr>
        <p:spPr>
          <a:xfrm>
            <a:off x="4531179" y="2362597"/>
            <a:ext cx="2211160" cy="1194423"/>
          </a:xfrm>
          <a:prstGeom prst="wedgeEllipseCallout">
            <a:avLst>
              <a:gd name="adj1" fmla="val -6496"/>
              <a:gd name="adj2" fmla="val 64547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/>
              <a:t>내가 정리해야지</a:t>
            </a:r>
            <a:r>
              <a:rPr lang="en-US" altLang="ko-KR"/>
              <a:t>........</a:t>
            </a:r>
            <a:endParaRPr lang="en-US" altLang="ko-KR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4531179" y="3865060"/>
            <a:ext cx="1375414" cy="2562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681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1" animBg="1"/>
    </p:bldLst>
  </p:timing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marL="0" lvl="0" indent="0">
              <a:buNone/>
              <a:defRPr/>
            </a:pPr>
            <a:r>
              <a:rPr lang="en-US" altLang="ko-KR"/>
              <a:t>4.</a:t>
            </a:r>
            <a:r>
              <a:rPr lang="ko-KR" altLang="en-US"/>
              <a:t> 이중모드</a:t>
            </a:r>
            <a:r>
              <a:rPr lang="en-US" altLang="ko-KR"/>
              <a:t>:</a:t>
            </a:r>
            <a:r>
              <a:rPr lang="ko-KR" altLang="en-US"/>
              <a:t> 사용자모드 </a:t>
            </a:r>
            <a:r>
              <a:rPr lang="en-US" altLang="ko-KR"/>
              <a:t>VS</a:t>
            </a:r>
            <a:r>
              <a:rPr lang="ko-KR" altLang="en-US"/>
              <a:t> 커널모드</a:t>
            </a:r>
            <a:endParaRPr lang="ko-KR" altLang="en-US"/>
          </a:p>
        </p:txBody>
      </p:sp>
      <p:sp>
        <p:nvSpPr>
          <p:cNvPr id="12" name="내용 개체 틀 2"/>
          <p:cNvSpPr>
            <a:spLocks noGrp="1"/>
          </p:cNvSpPr>
          <p:nvPr>
            <p:ph idx="1"/>
          </p:nvPr>
        </p:nvSpPr>
        <p:spPr>
          <a:xfrm>
            <a:off x="255361" y="1590792"/>
            <a:ext cx="11823245" cy="1940604"/>
          </a:xfrm>
        </p:spPr>
        <p:txBody>
          <a:bodyPr>
            <a:normAutofit lnSpcReduction="10000"/>
          </a:bodyPr>
          <a:p>
            <a:pPr lvl="0">
              <a:defRPr/>
            </a:pPr>
            <a:r>
              <a:rPr lang="ko-KR" altLang="en-US" sz="2500"/>
              <a:t>사용자 모드</a:t>
            </a:r>
            <a:r>
              <a:rPr lang="en-US" altLang="ko-KR" sz="2500"/>
              <a:t>:</a:t>
            </a:r>
            <a:r>
              <a:rPr lang="ko-KR" altLang="en-US" sz="2500"/>
              <a:t> 운영체제 서비스를 제공받을 수 없는 실행모드</a:t>
            </a:r>
            <a:r>
              <a:rPr lang="en-US" altLang="ko-KR" sz="2500"/>
              <a:t>,</a:t>
            </a:r>
            <a:r>
              <a:rPr lang="ko-KR" altLang="en-US" sz="2500"/>
              <a:t> </a:t>
            </a:r>
            <a:endParaRPr lang="ko-KR" altLang="en-US" sz="2500"/>
          </a:p>
          <a:p>
            <a:pPr marL="0" lvl="0" indent="0">
              <a:buNone/>
              <a:defRPr/>
            </a:pPr>
            <a:r>
              <a:rPr lang="ko-KR" altLang="en-US" sz="2500"/>
              <a:t>		     일반적인 응용 프로그램 </a:t>
            </a:r>
            <a:endParaRPr lang="ko-KR" altLang="en-US" sz="2500"/>
          </a:p>
          <a:p>
            <a:pPr marL="0" lvl="0" indent="0">
              <a:buNone/>
              <a:defRPr/>
            </a:pPr>
            <a:endParaRPr lang="ko-KR" altLang="en-US" sz="2500"/>
          </a:p>
          <a:p>
            <a:pPr lvl="0">
              <a:defRPr/>
            </a:pPr>
            <a:r>
              <a:rPr lang="ko-KR" altLang="en-US" sz="2500"/>
              <a:t>커널모드</a:t>
            </a:r>
            <a:r>
              <a:rPr lang="en-US" altLang="ko-KR" sz="2500"/>
              <a:t>:</a:t>
            </a:r>
            <a:r>
              <a:rPr lang="ko-KR" altLang="en-US" sz="2500"/>
              <a:t> 운영체제 서비스를 제공받을 수 있는 실행모드</a:t>
            </a:r>
            <a:endParaRPr lang="ko-KR" altLang="en-US" sz="2500"/>
          </a:p>
          <a:p>
            <a:pPr marL="0" lvl="0" indent="0">
              <a:buNone/>
              <a:defRPr/>
            </a:pPr>
            <a:endParaRPr lang="ko-KR" altLang="en-US" sz="2500"/>
          </a:p>
          <a:p>
            <a:pPr marL="0" lvl="0" indent="0">
              <a:buNone/>
              <a:defRPr/>
            </a:pPr>
            <a:endParaRPr lang="ko-KR" altLang="en-US" sz="2500"/>
          </a:p>
        </p:txBody>
      </p:sp>
      <p:sp>
        <p:nvSpPr>
          <p:cNvPr id="14" name="폭발 1 13"/>
          <p:cNvSpPr/>
          <p:nvPr/>
        </p:nvSpPr>
        <p:spPr>
          <a:xfrm>
            <a:off x="8991370" y="1001149"/>
            <a:ext cx="2245178" cy="1723571"/>
          </a:xfrm>
          <a:prstGeom prst="irregularSeal1">
            <a:avLst/>
          </a:prstGeom>
          <a:solidFill>
            <a:srgbClr val="ff000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/>
              <a:t>자원 접근 불가능</a:t>
            </a:r>
            <a:endParaRPr lang="ko-KR" altLang="en-US"/>
          </a:p>
        </p:txBody>
      </p:sp>
      <p:sp>
        <p:nvSpPr>
          <p:cNvPr id="22" name="내용 개체 틀 2"/>
          <p:cNvSpPr/>
          <p:nvPr/>
        </p:nvSpPr>
        <p:spPr>
          <a:xfrm>
            <a:off x="255361" y="3615021"/>
            <a:ext cx="9487352" cy="588791"/>
          </a:xfrm>
          <a:prstGeom prst="rect">
            <a:avLst/>
          </a:prstGeom>
        </p:spPr>
        <p:txBody>
          <a:bodyPr vert="horz" lIns="91440" tIns="45720" rIns="91440" bIns="45720">
            <a:normAutofit lnSpcReduction="10000"/>
          </a:bodyPr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시스템 호출</a:t>
            </a: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시스템 콜</a:t>
            </a:r>
            <a:r>
              <a:rPr xmlns:mc="http://schemas.openxmlformats.org/markup-compatibility/2006" xmlns:hp="http://schemas.haansoft.com/office/presentation/8.0" kumimoji="0" lang="en-US" altLang="ko-KR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):</a:t>
            </a: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운영체제 서비스를 제공받기 위한 요청</a:t>
            </a:r>
            <a:endPara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5" name="폭발 1 34"/>
          <p:cNvSpPr/>
          <p:nvPr/>
        </p:nvSpPr>
        <p:spPr>
          <a:xfrm>
            <a:off x="9337219" y="2175725"/>
            <a:ext cx="2245178" cy="1723571"/>
          </a:xfrm>
          <a:prstGeom prst="irregularSeal1">
            <a:avLst/>
          </a:prstGeom>
          <a:solidFill>
            <a:srgbClr val="ff000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/>
              <a:t>자원 접근 </a:t>
            </a:r>
            <a:endParaRPr lang="ko-KR" altLang="en-US"/>
          </a:p>
          <a:p>
            <a:pPr lvl="0" algn="ctr">
              <a:defRPr/>
            </a:pPr>
            <a:r>
              <a:rPr lang="ko-KR" altLang="en-US"/>
              <a:t>가능</a:t>
            </a:r>
            <a:r>
              <a:rPr lang="en-US" altLang="ko-KR"/>
              <a:t>!</a:t>
            </a:r>
            <a:endParaRPr lang="en-US" altLang="ko-KR"/>
          </a:p>
        </p:txBody>
      </p:sp>
      <p:pic>
        <p:nvPicPr>
          <p:cNvPr id="40" name="그림 39"/>
          <p:cNvPicPr>
            <a:picLocks noChangeAspect="1"/>
          </p:cNvPicPr>
          <p:nvPr/>
        </p:nvPicPr>
        <p:blipFill rotWithShape="1">
          <a:blip r:embed="rId2"/>
          <a:srcRect l="5704" t="11650" r="66258"/>
          <a:stretch>
            <a:fillRect/>
          </a:stretch>
        </p:blipFill>
        <p:spPr>
          <a:xfrm>
            <a:off x="609599" y="4869998"/>
            <a:ext cx="1064724" cy="1642836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 rotWithShape="1">
          <a:blip r:embed="rId3"/>
          <a:srcRect l="-2267" t="-1876" r="-4151" b="2871"/>
          <a:stretch>
            <a:fillRect/>
          </a:stretch>
        </p:blipFill>
        <p:spPr>
          <a:xfrm>
            <a:off x="8673868" y="4573817"/>
            <a:ext cx="2562679" cy="1939017"/>
          </a:xfrm>
          <a:custGeom>
            <a:avLst/>
            <a:gd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562968" h="1933737">
                <a:moveTo>
                  <a:pt x="2052642" y="0"/>
                </a:moveTo>
                <a:cubicBezTo>
                  <a:pt x="2052642" y="1507"/>
                  <a:pt x="2053399" y="18092"/>
                  <a:pt x="2052642" y="22616"/>
                </a:cubicBezTo>
                <a:cubicBezTo>
                  <a:pt x="2051886" y="27139"/>
                  <a:pt x="2042815" y="63326"/>
                  <a:pt x="2041302" y="67850"/>
                </a:cubicBezTo>
                <a:cubicBezTo>
                  <a:pt x="2039790" y="72373"/>
                  <a:pt x="2031474" y="87451"/>
                  <a:pt x="2029961" y="90466"/>
                </a:cubicBezTo>
                <a:cubicBezTo>
                  <a:pt x="2028449" y="93482"/>
                  <a:pt x="2020133" y="110822"/>
                  <a:pt x="2018621" y="113083"/>
                </a:cubicBezTo>
                <a:cubicBezTo>
                  <a:pt x="2017107" y="115345"/>
                  <a:pt x="2008035" y="122130"/>
                  <a:pt x="2007279" y="124392"/>
                </a:cubicBezTo>
                <a:cubicBezTo>
                  <a:pt x="2006523" y="126654"/>
                  <a:pt x="2008035" y="143239"/>
                  <a:pt x="2007279" y="147009"/>
                </a:cubicBezTo>
                <a:cubicBezTo>
                  <a:pt x="2006523" y="150778"/>
                  <a:pt x="1996695" y="165102"/>
                  <a:pt x="1995939" y="180934"/>
                </a:cubicBezTo>
                <a:cubicBezTo>
                  <a:pt x="1995184" y="196765"/>
                  <a:pt x="1995184" y="369408"/>
                  <a:pt x="1995939" y="384485"/>
                </a:cubicBezTo>
                <a:cubicBezTo>
                  <a:pt x="1996695" y="399563"/>
                  <a:pt x="2006523" y="403333"/>
                  <a:pt x="2007279" y="407102"/>
                </a:cubicBezTo>
                <a:cubicBezTo>
                  <a:pt x="2008035" y="410872"/>
                  <a:pt x="2006523" y="437258"/>
                  <a:pt x="2007279" y="441027"/>
                </a:cubicBezTo>
                <a:cubicBezTo>
                  <a:pt x="2008035" y="444796"/>
                  <a:pt x="2017108" y="460628"/>
                  <a:pt x="2018621" y="463644"/>
                </a:cubicBezTo>
                <a:cubicBezTo>
                  <a:pt x="2020133" y="466659"/>
                  <a:pt x="2029205" y="483245"/>
                  <a:pt x="2029961" y="486261"/>
                </a:cubicBezTo>
                <a:cubicBezTo>
                  <a:pt x="2030716" y="489276"/>
                  <a:pt x="2029204" y="505862"/>
                  <a:pt x="2029961" y="508877"/>
                </a:cubicBezTo>
                <a:cubicBezTo>
                  <a:pt x="2030716" y="511893"/>
                  <a:pt x="2039789" y="529233"/>
                  <a:pt x="2041302" y="531495"/>
                </a:cubicBezTo>
                <a:cubicBezTo>
                  <a:pt x="2042813" y="533757"/>
                  <a:pt x="2051130" y="541295"/>
                  <a:pt x="2052642" y="542803"/>
                </a:cubicBezTo>
                <a:cubicBezTo>
                  <a:pt x="2054154" y="544311"/>
                  <a:pt x="2062471" y="551096"/>
                  <a:pt x="2063982" y="554111"/>
                </a:cubicBezTo>
                <a:cubicBezTo>
                  <a:pt x="2065494" y="557127"/>
                  <a:pt x="2073812" y="584267"/>
                  <a:pt x="2075323" y="588036"/>
                </a:cubicBezTo>
                <a:cubicBezTo>
                  <a:pt x="2076835" y="591806"/>
                  <a:pt x="2084397" y="609146"/>
                  <a:pt x="2086664" y="610654"/>
                </a:cubicBezTo>
                <a:cubicBezTo>
                  <a:pt x="2088932" y="612161"/>
                  <a:pt x="2107077" y="609146"/>
                  <a:pt x="2109345" y="610654"/>
                </a:cubicBezTo>
                <a:cubicBezTo>
                  <a:pt x="2111614" y="612161"/>
                  <a:pt x="2119174" y="631008"/>
                  <a:pt x="2120685" y="633270"/>
                </a:cubicBezTo>
                <a:cubicBezTo>
                  <a:pt x="2122196" y="635532"/>
                  <a:pt x="2129759" y="643071"/>
                  <a:pt x="2132026" y="644579"/>
                </a:cubicBezTo>
                <a:cubicBezTo>
                  <a:pt x="2134296" y="646087"/>
                  <a:pt x="2151684" y="654379"/>
                  <a:pt x="2154707" y="655887"/>
                </a:cubicBezTo>
                <a:cubicBezTo>
                  <a:pt x="2157730" y="657395"/>
                  <a:pt x="2175119" y="665688"/>
                  <a:pt x="2177389" y="667195"/>
                </a:cubicBezTo>
                <a:cubicBezTo>
                  <a:pt x="2179657" y="668703"/>
                  <a:pt x="2187217" y="677750"/>
                  <a:pt x="2188730" y="678504"/>
                </a:cubicBezTo>
                <a:cubicBezTo>
                  <a:pt x="2190241" y="679258"/>
                  <a:pt x="2197802" y="677750"/>
                  <a:pt x="2200069" y="678504"/>
                </a:cubicBezTo>
                <a:cubicBezTo>
                  <a:pt x="2202338" y="679257"/>
                  <a:pt x="2220483" y="689058"/>
                  <a:pt x="2222751" y="689812"/>
                </a:cubicBezTo>
                <a:cubicBezTo>
                  <a:pt x="2225018" y="690566"/>
                  <a:pt x="2232579" y="689058"/>
                  <a:pt x="2234091" y="689812"/>
                </a:cubicBezTo>
                <a:cubicBezTo>
                  <a:pt x="2235603" y="690566"/>
                  <a:pt x="2242407" y="700367"/>
                  <a:pt x="2245431" y="701121"/>
                </a:cubicBezTo>
                <a:cubicBezTo>
                  <a:pt x="2248456" y="701875"/>
                  <a:pt x="2276430" y="700367"/>
                  <a:pt x="2279454" y="701121"/>
                </a:cubicBezTo>
                <a:cubicBezTo>
                  <a:pt x="2282477" y="701875"/>
                  <a:pt x="2287771" y="711675"/>
                  <a:pt x="2290794" y="712429"/>
                </a:cubicBezTo>
                <a:cubicBezTo>
                  <a:pt x="2293818" y="713183"/>
                  <a:pt x="2321791" y="711675"/>
                  <a:pt x="2324815" y="712429"/>
                </a:cubicBezTo>
                <a:cubicBezTo>
                  <a:pt x="2327839" y="713183"/>
                  <a:pt x="2320279" y="722984"/>
                  <a:pt x="2336156" y="723737"/>
                </a:cubicBezTo>
                <a:cubicBezTo>
                  <a:pt x="2352034" y="724491"/>
                  <a:pt x="2547846" y="723737"/>
                  <a:pt x="2562968" y="723737"/>
                </a:cubicBezTo>
                <a:lnTo>
                  <a:pt x="2381518" y="1911120"/>
                </a:lnTo>
                <a:lnTo>
                  <a:pt x="0" y="1933737"/>
                </a:lnTo>
                <a:lnTo>
                  <a:pt x="124746" y="135700"/>
                </a:lnTo>
                <a:lnTo>
                  <a:pt x="2052642" y="0"/>
                </a:lnTo>
                <a:close/>
              </a:path>
            </a:pathLst>
          </a:custGeom>
        </p:spPr>
      </p:pic>
      <p:pic>
        <p:nvPicPr>
          <p:cNvPr id="42" name="그림 41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582259" y="4203812"/>
            <a:ext cx="5183672" cy="2562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880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35" grpId="1" animBg="1"/>
    </p:bldLst>
  </p:timing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marL="0" lvl="0" indent="0">
              <a:buNone/>
              <a:defRPr/>
            </a:pPr>
            <a:r>
              <a:rPr lang="en-US" altLang="ko-KR"/>
              <a:t>4.</a:t>
            </a:r>
            <a:r>
              <a:rPr lang="ko-KR" altLang="en-US"/>
              <a:t> 이중모드</a:t>
            </a:r>
            <a:r>
              <a:rPr lang="en-US" altLang="ko-KR"/>
              <a:t>:</a:t>
            </a:r>
            <a:r>
              <a:rPr lang="ko-KR" altLang="en-US"/>
              <a:t> 사용자모드 </a:t>
            </a:r>
            <a:r>
              <a:rPr lang="en-US" altLang="ko-KR"/>
              <a:t>VS</a:t>
            </a:r>
            <a:r>
              <a:rPr lang="ko-KR" altLang="en-US"/>
              <a:t> 커널모드</a:t>
            </a:r>
            <a:endParaRPr lang="ko-KR" altLang="en-US"/>
          </a:p>
        </p:txBody>
      </p:sp>
      <p:pic>
        <p:nvPicPr>
          <p:cNvPr id="41" name="그림 4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875679" y="1830613"/>
            <a:ext cx="9189034" cy="3378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209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601" y="2712584"/>
            <a:ext cx="10972798" cy="1143000"/>
          </a:xfrm>
        </p:spPr>
        <p:txBody>
          <a:bodyPr/>
          <a:p>
            <a:pPr marL="0" lvl="0" indent="0">
              <a:buNone/>
              <a:defRPr/>
            </a:pPr>
            <a:r>
              <a:rPr lang="ko-KR" altLang="en-US"/>
              <a:t>시스템 콜은 언제 발생하는가</a:t>
            </a:r>
            <a:r>
              <a:rPr lang="en-US" altLang="ko-KR"/>
              <a:t>?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03615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en-US" altLang="ko-KR"/>
              <a:t>5.</a:t>
            </a:r>
            <a:r>
              <a:rPr lang="ko-KR" altLang="en-US"/>
              <a:t> 라즈베리파이란</a:t>
            </a:r>
            <a:r>
              <a:rPr lang="en-US" altLang="ko-KR"/>
              <a:t>?</a:t>
            </a:r>
            <a:endParaRPr lang="en-US" altLang="ko-KR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600200"/>
            <a:ext cx="10972798" cy="4911499"/>
          </a:xfrm>
        </p:spPr>
        <p:txBody>
          <a:bodyPr/>
          <a:p>
            <a:pPr lvl="0">
              <a:defRPr/>
            </a:pPr>
            <a:r>
              <a:rPr lang="ko-KR" altLang="en-US"/>
              <a:t>초소형 단일 보드 컴퓨터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리눅스 기반 </a:t>
            </a:r>
            <a:r>
              <a:rPr lang="en-US" altLang="ko-KR"/>
              <a:t>OS</a:t>
            </a:r>
            <a:r>
              <a:rPr lang="ko-KR" altLang="en-US"/>
              <a:t> 구동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깔끔하게 시스템콜</a:t>
            </a:r>
            <a:r>
              <a:rPr lang="en-US" altLang="ko-KR"/>
              <a:t>/</a:t>
            </a:r>
            <a:r>
              <a:rPr lang="ko-KR" altLang="en-US"/>
              <a:t>커널 동작을 관찰할 수 있음</a:t>
            </a:r>
            <a:r>
              <a:rPr lang="en-US" altLang="ko-KR"/>
              <a:t>!</a:t>
            </a:r>
            <a:endParaRPr lang="en-US" altLang="ko-KR"/>
          </a:p>
          <a:p>
            <a:pPr marL="0" lvl="0" indent="0">
              <a:buNone/>
              <a:defRPr/>
            </a:pPr>
            <a:r>
              <a:rPr lang="en-US" altLang="ko-KR"/>
              <a:t>(</a:t>
            </a:r>
            <a:r>
              <a:rPr lang="ko-KR" altLang="en-US"/>
              <a:t>사용 기종</a:t>
            </a:r>
            <a:r>
              <a:rPr lang="en-US" altLang="ko-KR"/>
              <a:t>:</a:t>
            </a:r>
            <a:r>
              <a:rPr lang="ko-KR" altLang="en-US"/>
              <a:t> 라즈베리파이 </a:t>
            </a:r>
            <a:r>
              <a:rPr lang="en-US" altLang="ko-KR"/>
              <a:t>4</a:t>
            </a:r>
            <a:r>
              <a:rPr lang="ko-KR" altLang="en-US"/>
              <a:t> </a:t>
            </a:r>
            <a:r>
              <a:rPr lang="en-US" altLang="ko-KR"/>
              <a:t>8GB RAM)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81064815"/>
      </p:ext>
    </p:extLst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927553"/>
          </a:xfrm>
        </p:spPr>
        <p:txBody>
          <a:bodyPr/>
          <a:p>
            <a:pPr marL="0" lvl="0" indent="0">
              <a:buNone/>
              <a:defRPr/>
            </a:pPr>
            <a:r>
              <a:rPr lang="en-US" altLang="ko-KR"/>
              <a:t>6.</a:t>
            </a:r>
            <a:r>
              <a:rPr lang="ko-KR" altLang="en-US"/>
              <a:t> 실습</a:t>
            </a:r>
            <a:r>
              <a:rPr lang="en-US" altLang="ko-KR"/>
              <a:t>:</a:t>
            </a:r>
            <a:r>
              <a:rPr lang="ko-KR" altLang="en-US"/>
              <a:t> 시스템콜은 언제 발생하는가</a:t>
            </a:r>
            <a:endParaRPr lang="en-US" altLang="ko-KR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221921" y="1532164"/>
            <a:ext cx="10360476" cy="4525963"/>
          </a:xfrm>
        </p:spPr>
        <p:txBody>
          <a:bodyPr/>
          <a:p>
            <a:pPr lvl="0">
              <a:defRPr/>
            </a:pPr>
            <a:r>
              <a:rPr lang="ko-KR" altLang="en-US" sz="2500"/>
              <a:t>시스템콜 발생 조건 </a:t>
            </a:r>
            <a:r>
              <a:rPr lang="en-US" altLang="ko-KR" sz="2500"/>
              <a:t>-&gt;</a:t>
            </a:r>
            <a:r>
              <a:rPr lang="ko-KR" altLang="en-US" sz="2500"/>
              <a:t> 자원에 접근해야 함 </a:t>
            </a:r>
            <a:r>
              <a:rPr lang="en-US" altLang="ko-KR" sz="2500"/>
              <a:t>-&gt;</a:t>
            </a:r>
            <a:r>
              <a:rPr lang="ko-KR" altLang="en-US" sz="2500"/>
              <a:t> </a:t>
            </a:r>
            <a:r>
              <a:rPr lang="en-US" altLang="ko-KR" sz="2500"/>
              <a:t>printf</a:t>
            </a:r>
            <a:r>
              <a:rPr lang="ko-KR" altLang="en-US" sz="2500"/>
              <a:t>함수 이용</a:t>
            </a:r>
            <a:endParaRPr lang="ko-KR" altLang="en-US" sz="2500"/>
          </a:p>
          <a:p>
            <a:pPr lvl="0">
              <a:defRPr/>
            </a:pPr>
            <a:r>
              <a:rPr lang="en-US" altLang="ko-KR" sz="2500"/>
              <a:t>printf(”Hello, World!\n”);</a:t>
            </a:r>
            <a:r>
              <a:rPr lang="ko-KR" altLang="en-US" sz="2500"/>
              <a:t>가 자원에 접근해야하는 경우 </a:t>
            </a:r>
            <a:r>
              <a:rPr lang="en-US" altLang="ko-KR" sz="2500"/>
              <a:t>-&gt;</a:t>
            </a:r>
            <a:r>
              <a:rPr lang="ko-KR" altLang="en-US" sz="2500"/>
              <a:t> 출력할때</a:t>
            </a:r>
            <a:endParaRPr lang="ko-KR" altLang="en-US" sz="2500"/>
          </a:p>
          <a:p>
            <a:pPr lvl="1">
              <a:defRPr/>
            </a:pPr>
            <a:r>
              <a:rPr lang="ko-KR" altLang="en-US" sz="2500"/>
              <a:t>출력시 </a:t>
            </a:r>
            <a:r>
              <a:rPr lang="en-US" altLang="ko-KR" sz="2500"/>
              <a:t>write()</a:t>
            </a:r>
            <a:r>
              <a:rPr lang="ko-KR" altLang="en-US" sz="2500"/>
              <a:t>라는 시스템콜을 호출함</a:t>
            </a:r>
            <a:endParaRPr lang="ko-KR" altLang="en-US" sz="2500"/>
          </a:p>
          <a:p>
            <a:pPr lvl="1">
              <a:defRPr/>
            </a:pPr>
            <a:endParaRPr lang="ko-KR" altLang="en-US" sz="2500"/>
          </a:p>
          <a:p>
            <a:pPr lvl="1">
              <a:defRPr/>
            </a:pPr>
            <a:endParaRPr lang="ko-KR" altLang="en-US" sz="250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l="5704" t="11650" r="66258"/>
          <a:stretch>
            <a:fillRect/>
          </a:stretch>
        </p:blipFill>
        <p:spPr>
          <a:xfrm>
            <a:off x="1602374" y="3601867"/>
            <a:ext cx="1064724" cy="164283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rcRect b="19474"/>
          <a:stretch>
            <a:fillRect/>
          </a:stretch>
        </p:blipFill>
        <p:spPr>
          <a:xfrm>
            <a:off x="5485321" y="3645920"/>
            <a:ext cx="1036487" cy="1554728"/>
          </a:xfrm>
          <a:prstGeom prst="rect">
            <a:avLst/>
          </a:prstGeom>
        </p:spPr>
      </p:pic>
      <p:sp>
        <p:nvSpPr>
          <p:cNvPr id="7" name="오른쪽 화살표 6"/>
          <p:cNvSpPr/>
          <p:nvPr/>
        </p:nvSpPr>
        <p:spPr>
          <a:xfrm>
            <a:off x="2762837" y="3645920"/>
            <a:ext cx="2608035" cy="84778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b58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en-US" altLang="ko-KR"/>
              <a:t>write()</a:t>
            </a:r>
            <a:endParaRPr lang="en-US" altLang="ko-KR"/>
          </a:p>
        </p:txBody>
      </p:sp>
      <p:sp>
        <p:nvSpPr>
          <p:cNvPr id="8" name="타원형 설명선 7"/>
          <p:cNvSpPr/>
          <p:nvPr/>
        </p:nvSpPr>
        <p:spPr>
          <a:xfrm>
            <a:off x="7391" y="3141039"/>
            <a:ext cx="1916339" cy="916100"/>
          </a:xfrm>
          <a:prstGeom prst="wedgeEllipseCallout">
            <a:avLst>
              <a:gd name="adj1" fmla="val 41119"/>
              <a:gd name="adj2" fmla="val 61475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>
              <a:defRPr/>
            </a:pPr>
            <a:r>
              <a:rPr lang="en-US" altLang="ko-KR"/>
              <a:t>printf(”Hello, World!\n”);</a:t>
            </a:r>
            <a:endParaRPr lang="en-US" altLang="ko-KR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4"/>
          <a:srcRect l="-2267" t="-1876" r="-4151" b="2871"/>
          <a:stretch>
            <a:fillRect/>
          </a:stretch>
        </p:blipFill>
        <p:spPr>
          <a:xfrm>
            <a:off x="9156373" y="3305685"/>
            <a:ext cx="2562679" cy="1939017"/>
          </a:xfrm>
          <a:custGeom>
            <a:avLst/>
            <a:gd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562968" h="1933737">
                <a:moveTo>
                  <a:pt x="2052642" y="0"/>
                </a:moveTo>
                <a:cubicBezTo>
                  <a:pt x="2052642" y="1507"/>
                  <a:pt x="2053399" y="18092"/>
                  <a:pt x="2052642" y="22616"/>
                </a:cubicBezTo>
                <a:cubicBezTo>
                  <a:pt x="2051886" y="27139"/>
                  <a:pt x="2042815" y="63326"/>
                  <a:pt x="2041302" y="67850"/>
                </a:cubicBezTo>
                <a:cubicBezTo>
                  <a:pt x="2039790" y="72373"/>
                  <a:pt x="2031474" y="87451"/>
                  <a:pt x="2029961" y="90466"/>
                </a:cubicBezTo>
                <a:cubicBezTo>
                  <a:pt x="2028449" y="93482"/>
                  <a:pt x="2020133" y="110822"/>
                  <a:pt x="2018621" y="113083"/>
                </a:cubicBezTo>
                <a:cubicBezTo>
                  <a:pt x="2017107" y="115345"/>
                  <a:pt x="2008035" y="122130"/>
                  <a:pt x="2007279" y="124392"/>
                </a:cubicBezTo>
                <a:cubicBezTo>
                  <a:pt x="2006523" y="126654"/>
                  <a:pt x="2008035" y="143239"/>
                  <a:pt x="2007279" y="147009"/>
                </a:cubicBezTo>
                <a:cubicBezTo>
                  <a:pt x="2006523" y="150778"/>
                  <a:pt x="1996695" y="165102"/>
                  <a:pt x="1995939" y="180934"/>
                </a:cubicBezTo>
                <a:cubicBezTo>
                  <a:pt x="1995184" y="196765"/>
                  <a:pt x="1995184" y="369408"/>
                  <a:pt x="1995939" y="384485"/>
                </a:cubicBezTo>
                <a:cubicBezTo>
                  <a:pt x="1996695" y="399563"/>
                  <a:pt x="2006523" y="403333"/>
                  <a:pt x="2007279" y="407102"/>
                </a:cubicBezTo>
                <a:cubicBezTo>
                  <a:pt x="2008035" y="410872"/>
                  <a:pt x="2006523" y="437258"/>
                  <a:pt x="2007279" y="441027"/>
                </a:cubicBezTo>
                <a:cubicBezTo>
                  <a:pt x="2008035" y="444796"/>
                  <a:pt x="2017108" y="460628"/>
                  <a:pt x="2018621" y="463644"/>
                </a:cubicBezTo>
                <a:cubicBezTo>
                  <a:pt x="2020133" y="466659"/>
                  <a:pt x="2029205" y="483245"/>
                  <a:pt x="2029961" y="486261"/>
                </a:cubicBezTo>
                <a:cubicBezTo>
                  <a:pt x="2030716" y="489276"/>
                  <a:pt x="2029204" y="505862"/>
                  <a:pt x="2029961" y="508877"/>
                </a:cubicBezTo>
                <a:cubicBezTo>
                  <a:pt x="2030716" y="511893"/>
                  <a:pt x="2039789" y="529233"/>
                  <a:pt x="2041302" y="531495"/>
                </a:cubicBezTo>
                <a:cubicBezTo>
                  <a:pt x="2042813" y="533757"/>
                  <a:pt x="2051130" y="541295"/>
                  <a:pt x="2052642" y="542803"/>
                </a:cubicBezTo>
                <a:cubicBezTo>
                  <a:pt x="2054154" y="544311"/>
                  <a:pt x="2062471" y="551096"/>
                  <a:pt x="2063982" y="554111"/>
                </a:cubicBezTo>
                <a:cubicBezTo>
                  <a:pt x="2065494" y="557127"/>
                  <a:pt x="2073812" y="584267"/>
                  <a:pt x="2075323" y="588036"/>
                </a:cubicBezTo>
                <a:cubicBezTo>
                  <a:pt x="2076835" y="591806"/>
                  <a:pt x="2084397" y="609146"/>
                  <a:pt x="2086664" y="610654"/>
                </a:cubicBezTo>
                <a:cubicBezTo>
                  <a:pt x="2088932" y="612161"/>
                  <a:pt x="2107077" y="609146"/>
                  <a:pt x="2109345" y="610654"/>
                </a:cubicBezTo>
                <a:cubicBezTo>
                  <a:pt x="2111614" y="612161"/>
                  <a:pt x="2119174" y="631008"/>
                  <a:pt x="2120685" y="633270"/>
                </a:cubicBezTo>
                <a:cubicBezTo>
                  <a:pt x="2122196" y="635532"/>
                  <a:pt x="2129759" y="643071"/>
                  <a:pt x="2132026" y="644579"/>
                </a:cubicBezTo>
                <a:cubicBezTo>
                  <a:pt x="2134296" y="646087"/>
                  <a:pt x="2151684" y="654379"/>
                  <a:pt x="2154707" y="655887"/>
                </a:cubicBezTo>
                <a:cubicBezTo>
                  <a:pt x="2157730" y="657395"/>
                  <a:pt x="2175119" y="665688"/>
                  <a:pt x="2177389" y="667195"/>
                </a:cubicBezTo>
                <a:cubicBezTo>
                  <a:pt x="2179657" y="668703"/>
                  <a:pt x="2187217" y="677750"/>
                  <a:pt x="2188730" y="678504"/>
                </a:cubicBezTo>
                <a:cubicBezTo>
                  <a:pt x="2190241" y="679258"/>
                  <a:pt x="2197802" y="677750"/>
                  <a:pt x="2200069" y="678504"/>
                </a:cubicBezTo>
                <a:cubicBezTo>
                  <a:pt x="2202338" y="679257"/>
                  <a:pt x="2220483" y="689058"/>
                  <a:pt x="2222751" y="689812"/>
                </a:cubicBezTo>
                <a:cubicBezTo>
                  <a:pt x="2225018" y="690566"/>
                  <a:pt x="2232579" y="689058"/>
                  <a:pt x="2234091" y="689812"/>
                </a:cubicBezTo>
                <a:cubicBezTo>
                  <a:pt x="2235603" y="690566"/>
                  <a:pt x="2242407" y="700367"/>
                  <a:pt x="2245431" y="701121"/>
                </a:cubicBezTo>
                <a:cubicBezTo>
                  <a:pt x="2248456" y="701875"/>
                  <a:pt x="2276430" y="700367"/>
                  <a:pt x="2279454" y="701121"/>
                </a:cubicBezTo>
                <a:cubicBezTo>
                  <a:pt x="2282477" y="701875"/>
                  <a:pt x="2287771" y="711675"/>
                  <a:pt x="2290794" y="712429"/>
                </a:cubicBezTo>
                <a:cubicBezTo>
                  <a:pt x="2293818" y="713183"/>
                  <a:pt x="2321791" y="711675"/>
                  <a:pt x="2324815" y="712429"/>
                </a:cubicBezTo>
                <a:cubicBezTo>
                  <a:pt x="2327839" y="713183"/>
                  <a:pt x="2320279" y="722984"/>
                  <a:pt x="2336156" y="723737"/>
                </a:cubicBezTo>
                <a:cubicBezTo>
                  <a:pt x="2352034" y="724491"/>
                  <a:pt x="2547846" y="723737"/>
                  <a:pt x="2562968" y="723737"/>
                </a:cubicBezTo>
                <a:lnTo>
                  <a:pt x="2381518" y="1911120"/>
                </a:lnTo>
                <a:lnTo>
                  <a:pt x="0" y="1933737"/>
                </a:lnTo>
                <a:lnTo>
                  <a:pt x="124746" y="135700"/>
                </a:lnTo>
                <a:lnTo>
                  <a:pt x="2052642" y="0"/>
                </a:lnTo>
                <a:close/>
              </a:path>
            </a:pathLst>
          </a:custGeom>
        </p:spPr>
      </p:pic>
      <p:sp>
        <p:nvSpPr>
          <p:cNvPr id="10" name="오른쪽 화살표 9"/>
          <p:cNvSpPr/>
          <p:nvPr/>
        </p:nvSpPr>
        <p:spPr>
          <a:xfrm>
            <a:off x="6636256" y="3633248"/>
            <a:ext cx="2608035" cy="847781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/>
              <a:t>하드웨어 조작</a:t>
            </a:r>
            <a:endParaRPr lang="ko-KR" altLang="en-US"/>
          </a:p>
        </p:txBody>
      </p:sp>
      <p:sp>
        <p:nvSpPr>
          <p:cNvPr id="12" name="왼쪽 화살표 11"/>
          <p:cNvSpPr/>
          <p:nvPr/>
        </p:nvSpPr>
        <p:spPr>
          <a:xfrm>
            <a:off x="6636256" y="4481030"/>
            <a:ext cx="2520117" cy="775154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/>
              <a:t>결과값</a:t>
            </a:r>
            <a:endParaRPr lang="ko-KR" altLang="en-US"/>
          </a:p>
        </p:txBody>
      </p:sp>
      <p:sp>
        <p:nvSpPr>
          <p:cNvPr id="13" name="왼쪽 화살표 12"/>
          <p:cNvSpPr/>
          <p:nvPr/>
        </p:nvSpPr>
        <p:spPr>
          <a:xfrm>
            <a:off x="2816151" y="4493702"/>
            <a:ext cx="2520117" cy="775154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/>
              <a:t>결과값 반환</a:t>
            </a:r>
            <a:endParaRPr lang="ko-KR" altLang="en-US"/>
          </a:p>
        </p:txBody>
      </p:sp>
      <p:sp>
        <p:nvSpPr>
          <p:cNvPr id="14" name="내용 개체 틀 2"/>
          <p:cNvSpPr/>
          <p:nvPr/>
        </p:nvSpPr>
        <p:spPr>
          <a:xfrm>
            <a:off x="5123223" y="5268856"/>
            <a:ext cx="1278936" cy="370455"/>
          </a:xfrm>
          <a:prstGeom prst="rect">
            <a:avLst/>
          </a:prstGeom>
        </p:spPr>
        <p:txBody>
          <a:bodyPr vert="horz" lIns="91440" tIns="45720" rIns="91440" bIns="45720">
            <a:normAutofit fontScale="92500" lnSpcReduction="20000"/>
          </a:bodyPr>
          <a:p>
            <a:pPr marL="457200" lvl="1" indent="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커널</a:t>
            </a:r>
            <a:endParaRPr xmlns:mc="http://schemas.openxmlformats.org/markup-compatibility/2006" xmlns:hp="http://schemas.haansoft.com/office/presentation/8.0" kumimoji="0" lang="ko-KR" altLang="en-US" sz="25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9099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927553"/>
          </a:xfrm>
        </p:spPr>
        <p:txBody>
          <a:bodyPr/>
          <a:p>
            <a:pPr marL="0" lvl="0" indent="0">
              <a:buNone/>
              <a:defRPr/>
            </a:pPr>
            <a:r>
              <a:rPr lang="en-US" altLang="ko-KR"/>
              <a:t>6.</a:t>
            </a:r>
            <a:r>
              <a:rPr lang="ko-KR" altLang="en-US"/>
              <a:t> 실습</a:t>
            </a:r>
            <a:r>
              <a:rPr lang="en-US" altLang="ko-KR"/>
              <a:t>:</a:t>
            </a:r>
            <a:r>
              <a:rPr lang="ko-KR" altLang="en-US"/>
              <a:t> 시스템콜은 언제 발생하는가</a:t>
            </a:r>
            <a:endParaRPr lang="en-US" altLang="ko-KR"/>
          </a:p>
        </p:txBody>
      </p:sp>
      <p:sp>
        <p:nvSpPr>
          <p:cNvPr id="20" name="내용 개체 틀 2"/>
          <p:cNvSpPr>
            <a:spLocks noGrp="1"/>
          </p:cNvSpPr>
          <p:nvPr>
            <p:ph idx="1"/>
          </p:nvPr>
        </p:nvSpPr>
        <p:spPr>
          <a:xfrm>
            <a:off x="609600" y="1202191"/>
            <a:ext cx="10972798" cy="4911499"/>
          </a:xfrm>
        </p:spPr>
        <p:txBody>
          <a:bodyPr/>
          <a:p>
            <a:pPr lvl="0">
              <a:defRPr/>
            </a:pPr>
            <a:r>
              <a:rPr lang="en-US" altLang="ko-KR"/>
              <a:t>syscall_right</a:t>
            </a:r>
            <a:endParaRPr lang="en-US" altLang="ko-KR"/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253250" y="2198000"/>
            <a:ext cx="6742819" cy="3915690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2338792"/>
            <a:ext cx="5204816" cy="3067141"/>
          </a:xfrm>
          <a:prstGeom prst="rect">
            <a:avLst/>
          </a:prstGeom>
        </p:spPr>
      </p:pic>
      <p:sp>
        <p:nvSpPr>
          <p:cNvPr id="24" name="직사각형 23"/>
          <p:cNvSpPr/>
          <p:nvPr/>
        </p:nvSpPr>
        <p:spPr>
          <a:xfrm>
            <a:off x="5253250" y="4886098"/>
            <a:ext cx="6461365" cy="249464"/>
          </a:xfrm>
          <a:prstGeom prst="rect">
            <a:avLst/>
          </a:prstGeom>
          <a:noFill/>
          <a:ln w="50800">
            <a:solidFill>
              <a:schemeClr val="accent4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15637783"/>
      </p:ext>
    </p:extLst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927553"/>
          </a:xfrm>
        </p:spPr>
        <p:txBody>
          <a:bodyPr/>
          <a:p>
            <a:pPr marL="0" lvl="0" indent="0">
              <a:buNone/>
              <a:defRPr/>
            </a:pPr>
            <a:r>
              <a:rPr lang="en-US" altLang="ko-KR"/>
              <a:t>6.</a:t>
            </a:r>
            <a:r>
              <a:rPr lang="ko-KR" altLang="en-US"/>
              <a:t> 실습</a:t>
            </a:r>
            <a:r>
              <a:rPr lang="en-US" altLang="ko-KR"/>
              <a:t>:</a:t>
            </a:r>
            <a:r>
              <a:rPr lang="ko-KR" altLang="en-US"/>
              <a:t> 시스템콜은 언제 발생하는가</a:t>
            </a:r>
            <a:endParaRPr lang="en-US" altLang="ko-KR"/>
          </a:p>
        </p:txBody>
      </p:sp>
      <p:sp>
        <p:nvSpPr>
          <p:cNvPr id="20" name="내용 개체 틀 2"/>
          <p:cNvSpPr>
            <a:spLocks noGrp="1"/>
          </p:cNvSpPr>
          <p:nvPr>
            <p:ph idx="1"/>
          </p:nvPr>
        </p:nvSpPr>
        <p:spPr>
          <a:xfrm>
            <a:off x="609600" y="1202191"/>
            <a:ext cx="10972798" cy="4911499"/>
          </a:xfrm>
        </p:spPr>
        <p:txBody>
          <a:bodyPr/>
          <a:p>
            <a:pPr lvl="0">
              <a:defRPr/>
            </a:pPr>
            <a:r>
              <a:rPr lang="en-US" altLang="ko-KR"/>
              <a:t>syscall_heavy</a:t>
            </a:r>
            <a:endParaRPr lang="en-US" altLang="ko-KR"/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529539" y="1882618"/>
            <a:ext cx="6809871" cy="4569782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882618"/>
            <a:ext cx="5441808" cy="3278501"/>
          </a:xfrm>
          <a:prstGeom prst="rect">
            <a:avLst/>
          </a:prstGeom>
        </p:spPr>
      </p:pic>
      <p:sp>
        <p:nvSpPr>
          <p:cNvPr id="24" name="직사각형 23"/>
          <p:cNvSpPr/>
          <p:nvPr/>
        </p:nvSpPr>
        <p:spPr>
          <a:xfrm>
            <a:off x="5529539" y="3015116"/>
            <a:ext cx="6461365" cy="249464"/>
          </a:xfrm>
          <a:prstGeom prst="rect">
            <a:avLst/>
          </a:prstGeom>
          <a:noFill/>
          <a:ln w="50800">
            <a:solidFill>
              <a:schemeClr val="accent4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75709528"/>
      </p:ext>
    </p:extLst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927553"/>
          </a:xfrm>
        </p:spPr>
        <p:txBody>
          <a:bodyPr/>
          <a:p>
            <a:pPr marL="0" lvl="0" indent="0">
              <a:buNone/>
              <a:defRPr/>
            </a:pPr>
            <a:r>
              <a:rPr lang="en-US" altLang="ko-KR"/>
              <a:t>6.</a:t>
            </a:r>
            <a:r>
              <a:rPr lang="ko-KR" altLang="en-US"/>
              <a:t> 실습</a:t>
            </a:r>
            <a:r>
              <a:rPr lang="en-US" altLang="ko-KR"/>
              <a:t>:</a:t>
            </a:r>
            <a:r>
              <a:rPr lang="ko-KR" altLang="en-US"/>
              <a:t> 시스템콜은 언제 발생하는가</a:t>
            </a:r>
            <a:endParaRPr lang="en-US" altLang="ko-KR"/>
          </a:p>
        </p:txBody>
      </p:sp>
      <p:sp>
        <p:nvSpPr>
          <p:cNvPr id="25" name="내용 개체 틀 2"/>
          <p:cNvSpPr/>
          <p:nvPr/>
        </p:nvSpPr>
        <p:spPr>
          <a:xfrm>
            <a:off x="354465" y="1326923"/>
            <a:ext cx="11641818" cy="5183641"/>
          </a:xfrm>
          <a:prstGeom prst="rect">
            <a:avLst/>
          </a:prstGeom>
        </p:spPr>
        <p:txBody>
          <a:bodyPr vert="horz" lIns="91440" tIns="45720" rIns="91440" bIns="45720">
            <a:normAutofit lnSpcReduction="10000"/>
          </a:bodyPr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3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공통요소</a:t>
            </a:r>
            <a:r>
              <a:rPr xmlns:mc="http://schemas.openxmlformats.org/markup-compatibility/2006" xmlns:hp="http://schemas.haansoft.com/office/presentation/8.0" kumimoji="0" lang="en-US" altLang="ko-KR" sz="3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3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실행준비 과정에서 나오는 시스템 콜</a:t>
            </a:r>
            <a:endParaRPr xmlns:mc="http://schemas.openxmlformats.org/markup-compatibility/2006" xmlns:hp="http://schemas.haansoft.com/office/presentation/8.0" kumimoji="0" lang="ko-KR" altLang="en-US" sz="32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3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차이나는 요소</a:t>
            </a:r>
            <a:r>
              <a:rPr xmlns:mc="http://schemas.openxmlformats.org/markup-compatibility/2006" xmlns:hp="http://schemas.haansoft.com/office/presentation/8.0" kumimoji="0" lang="en-US" altLang="ko-KR" sz="3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3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xmlns:mc="http://schemas.openxmlformats.org/markup-compatibility/2006" xmlns:hp="http://schemas.haansoft.com/office/presentation/8.0" kumimoji="0" lang="ko-KR" altLang="en-US" sz="3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호출 횟수로 인한 </a:t>
            </a:r>
            <a:r>
              <a:rPr xmlns:mc="http://schemas.openxmlformats.org/markup-compatibility/2006" xmlns:hp="http://schemas.haansoft.com/office/presentation/8.0" kumimoji="0" lang="en-US" altLang="ko-KR" sz="3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write()</a:t>
            </a:r>
            <a:r>
              <a:rPr xmlns:mc="http://schemas.openxmlformats.org/markup-compatibility/2006" xmlns:hp="http://schemas.haansoft.com/office/presentation/8.0" kumimoji="0" lang="ko-KR" altLang="en-US" sz="3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호출 횟수 </a:t>
            </a:r>
            <a:endParaRPr xmlns:mc="http://schemas.openxmlformats.org/markup-compatibility/2006" xmlns:hp="http://schemas.haansoft.com/office/presentation/8.0" kumimoji="0" lang="ko-KR" altLang="en-US" sz="32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sz="32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3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실험 결과</a:t>
            </a:r>
            <a:r>
              <a:rPr xmlns:mc="http://schemas.openxmlformats.org/markup-compatibility/2006" xmlns:hp="http://schemas.haansoft.com/office/presentation/8.0" kumimoji="0" lang="en-US" altLang="ko-KR" sz="3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3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br>
              <a:rPr xmlns:mc="http://schemas.openxmlformats.org/markup-compatibility/2006" xmlns:hp="http://schemas.haansoft.com/office/presentation/8.0" kumimoji="0" lang="ko-KR" altLang="en-US" sz="3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xmlns:mc="http://schemas.openxmlformats.org/markup-compatibility/2006" xmlns:hp="http://schemas.haansoft.com/office/presentation/8.0" kumimoji="0" lang="en-US" altLang="ko-KR" sz="3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right</a:t>
            </a:r>
            <a:r>
              <a:rPr xmlns:mc="http://schemas.openxmlformats.org/markup-compatibility/2006" xmlns:hp="http://schemas.haansoft.com/office/presentation/8.0" kumimoji="0" lang="ko-KR" altLang="en-US" sz="3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가 </a:t>
            </a:r>
            <a:r>
              <a:rPr xmlns:mc="http://schemas.openxmlformats.org/markup-compatibility/2006" xmlns:hp="http://schemas.haansoft.com/office/presentation/8.0" kumimoji="0" lang="en-US" altLang="ko-KR" sz="3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heavy</a:t>
            </a:r>
            <a:r>
              <a:rPr xmlns:mc="http://schemas.openxmlformats.org/markup-compatibility/2006" xmlns:hp="http://schemas.haansoft.com/office/presentation/8.0" kumimoji="0" lang="ko-KR" altLang="en-US" sz="3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보다 계산량이 훨씬 많음에도 불구하고 더 적은 </a:t>
            </a:r>
            <a:br>
              <a:rPr xmlns:mc="http://schemas.openxmlformats.org/markup-compatibility/2006" xmlns:hp="http://schemas.haansoft.com/office/presentation/8.0" kumimoji="0" lang="ko-KR" altLang="en-US" sz="3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xmlns:mc="http://schemas.openxmlformats.org/markup-compatibility/2006" xmlns:hp="http://schemas.haansoft.com/office/presentation/8.0" kumimoji="0" lang="ko-KR" altLang="en-US" sz="3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시스템콜 호출 횟수를 가짐</a:t>
            </a:r>
            <a:endParaRPr xmlns:mc="http://schemas.openxmlformats.org/markup-compatibility/2006" xmlns:hp="http://schemas.haansoft.com/office/presentation/8.0" kumimoji="0" lang="ko-KR" altLang="en-US" sz="32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sz="32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3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결론</a:t>
            </a:r>
            <a:r>
              <a:rPr xmlns:mc="http://schemas.openxmlformats.org/markup-compatibility/2006" xmlns:hp="http://schemas.haansoft.com/office/presentation/8.0" kumimoji="0" lang="en-US" altLang="ko-KR" sz="3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3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br>
              <a:rPr xmlns:mc="http://schemas.openxmlformats.org/markup-compatibility/2006" xmlns:hp="http://schemas.haansoft.com/office/presentation/8.0" kumimoji="0" lang="ko-KR" altLang="en-US" sz="3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xmlns:mc="http://schemas.openxmlformats.org/markup-compatibility/2006" xmlns:hp="http://schemas.haansoft.com/office/presentation/8.0" kumimoji="0" lang="ko-KR" altLang="en-US" sz="3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커널을 얼마나 자주 호출하는지에 따라 프로그램의 시스템콜 패턴이 결정된다</a:t>
            </a:r>
            <a:r>
              <a:rPr xmlns:mc="http://schemas.openxmlformats.org/markup-compatibility/2006" xmlns:hp="http://schemas.haansoft.com/office/presentation/8.0" kumimoji="0" lang="en-US" altLang="ko-KR" sz="3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xmlns:mc="http://schemas.openxmlformats.org/markup-compatibility/2006" xmlns:hp="http://schemas.haansoft.com/office/presentation/8.0" kumimoji="0" lang="ko-KR" altLang="en-US" sz="3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endParaRPr xmlns:mc="http://schemas.openxmlformats.org/markup-compatibility/2006" xmlns:hp="http://schemas.haansoft.com/office/presentation/8.0" kumimoji="0" lang="ko-KR" altLang="en-US" sz="32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32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0212833"/>
      </p:ext>
    </p:extLst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marL="0" lvl="0" indent="0">
              <a:buNone/>
              <a:defRPr/>
            </a:pPr>
            <a:r>
              <a:rPr lang="en-US" altLang="ko-KR"/>
              <a:t>7.</a:t>
            </a:r>
            <a:r>
              <a:rPr lang="ko-KR" altLang="en-US"/>
              <a:t> 마무리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감사합니다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88300982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301</ep:Words>
  <ep:PresentationFormat>화면 슬라이드 쇼(4:3)</ep:PresentationFormat>
  <ep:Paragraphs>89</ep:Paragraphs>
  <ep:Slides>16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ep:HeadingPairs>
  <ep:TitlesOfParts>
    <vt:vector size="17" baseType="lpstr">
      <vt:lpstr>한컴오피스</vt:lpstr>
      <vt:lpstr>라즈베리 파이를 이용한 시스템콜 비교 분석</vt:lpstr>
      <vt:lpstr>목차</vt:lpstr>
      <vt:lpstr>1. 주제 선정 이유</vt:lpstr>
      <vt:lpstr>2. 운영체제란?</vt:lpstr>
      <vt:lpstr>2. 운영체제란?</vt:lpstr>
      <vt:lpstr>3. 커널과 사용자 인터페이스</vt:lpstr>
      <vt:lpstr>4. 이중모드: 사용자모드 VS 커널모드</vt:lpstr>
      <vt:lpstr>4. 이중모드: 사용자모드 VS 커널모드</vt:lpstr>
      <vt:lpstr>4. 이중모드: 사용자모드 VS 커널모드</vt:lpstr>
      <vt:lpstr>시스템 콜은 언제 발생하는가?</vt:lpstr>
      <vt:lpstr>5. 라즈베리파이란?</vt:lpstr>
      <vt:lpstr>6. 실습: 시스템콜은 언제 발생하는가</vt:lpstr>
      <vt:lpstr>6. 실습: 시스템콜은 언제 발생하는가</vt:lpstr>
      <vt:lpstr>6. 실습: 시스템콜은 언제 발생하는가</vt:lpstr>
      <vt:lpstr>6. 실습: 시스템콜은 언제 발생하는가</vt:lpstr>
      <vt:lpstr>7. 마무리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2026-07-20T20:25:31.599</dcterms:created>
  <dc:creator>Kimda</dc:creator>
  <cp:lastModifiedBy>Kimda</cp:lastModifiedBy>
  <dcterms:modified xsi:type="dcterms:W3CDTF">2026-07-21T22:19:12.031</dcterms:modified>
  <cp:revision>52</cp:revision>
  <cp:version>13.0.0.3050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