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74" r:id="rId4"/>
    <p:sldId id="277" r:id="rId5"/>
    <p:sldId id="263" r:id="rId6"/>
    <p:sldId id="265" r:id="rId7"/>
    <p:sldId id="258" r:id="rId8"/>
    <p:sldId id="276" r:id="rId9"/>
    <p:sldId id="261" r:id="rId10"/>
    <p:sldId id="264" r:id="rId11"/>
    <p:sldId id="275" r:id="rId12"/>
    <p:sldId id="257" r:id="rId13"/>
    <p:sldId id="266" r:id="rId14"/>
    <p:sldId id="268" r:id="rId15"/>
    <p:sldId id="267" r:id="rId16"/>
    <p:sldId id="259" r:id="rId17"/>
    <p:sldId id="260" r:id="rId18"/>
    <p:sldId id="269" r:id="rId19"/>
    <p:sldId id="270" r:id="rId20"/>
    <p:sldId id="271" r:id="rId21"/>
    <p:sldId id="273" r:id="rId22"/>
    <p:sldId id="27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F423C0B-24CF-4C3C-8A59-7768EA0501B5}" styleName="Normal Style 1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6450435-6131-4BA9-BD02-603D08AFE7CB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3"/>
              </a:solidFill>
            </a:ln>
          </a:top>
          <a:bottom>
            <a:ln w="2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3"/>
              </a:solidFill>
            </a:ln>
          </a:top>
          <a:bottom>
            <a:ln w="10000" cmpd="sng">
              <a:solidFill>
                <a:schemeClr val="accent3"/>
              </a:solidFill>
            </a:ln>
          </a:bottom>
        </a:tcBdr>
        <a:fill>
          <a:solidFill>
            <a:schemeClr val="accent3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77BBAD0-2FD1-4BB3-BED5-B7D4590D3504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3"/>
      </a:tcTxStyle>
      <a:tcStyle>
        <a:tcBdr>
          <a:top>
            <a:ln w="6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3">
          <a:shade val="40000"/>
        </a:schemeClr>
      </a:tcTxStyle>
      <a:tcStyle>
        <a:tcBdr/>
        <a:fill>
          <a:solidFill>
            <a:schemeClr val="accent3">
              <a:alpha val="4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70" d="100"/>
          <a:sy n="7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presProps" Target="presProps.xml"  /><Relationship Id="rId25" Type="http://schemas.openxmlformats.org/officeDocument/2006/relationships/viewProps" Target="viewProps.xml"  /><Relationship Id="rId26" Type="http://schemas.openxmlformats.org/officeDocument/2006/relationships/theme" Target="theme/theme1.xml"  /><Relationship Id="rId27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3630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elf</a:t>
            </a:r>
            <a:r>
              <a:rPr lang="ko-KR" altLang="en-US"/>
              <a:t> 헤더 빼고는 전부 </a:t>
            </a:r>
            <a:r>
              <a:rPr lang="en-US" altLang="ko-KR"/>
              <a:t>elf</a:t>
            </a:r>
            <a:r>
              <a:rPr lang="ko-KR" altLang="en-US"/>
              <a:t> 섹션 파일의 구성요소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919661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.text</a:t>
            </a:r>
            <a:r>
              <a:rPr lang="ko-KR" altLang="en-US"/>
              <a:t>랑 </a:t>
            </a:r>
            <a:r>
              <a:rPr lang="en-US" altLang="ko-KR"/>
              <a:t>.rodata</a:t>
            </a:r>
            <a:r>
              <a:rPr lang="ko-KR" altLang="en-US"/>
              <a:t>는 </a:t>
            </a:r>
            <a:r>
              <a:rPr lang="en-US" altLang="ko-KR"/>
              <a:t>main.o</a:t>
            </a:r>
            <a:r>
              <a:rPr lang="ko-KR" altLang="en-US"/>
              <a:t>의 </a:t>
            </a:r>
            <a:r>
              <a:rPr lang="en-US" altLang="ko-KR"/>
              <a:t>elf</a:t>
            </a:r>
            <a:r>
              <a:rPr lang="ko-KR" altLang="en-US"/>
              <a:t>파일에 속해있기 때문에 </a:t>
            </a:r>
            <a:r>
              <a:rPr lang="en-US" altLang="ko-KR"/>
              <a:t>UND</a:t>
            </a:r>
            <a:r>
              <a:rPr lang="ko-KR" altLang="en-US"/>
              <a:t>가 아님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954983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math</a:t>
            </a:r>
            <a:r>
              <a:rPr lang="ko-KR" altLang="en-US"/>
              <a:t>에는 </a:t>
            </a:r>
            <a:r>
              <a:rPr lang="en-US" altLang="ko-KR"/>
              <a:t>rodata</a:t>
            </a:r>
            <a:r>
              <a:rPr lang="ko-KR" altLang="en-US"/>
              <a:t>가 없는데 왜 주소를 모르냐</a:t>
            </a:r>
            <a:r>
              <a:rPr lang="en-US" altLang="ko-KR"/>
              <a:t>?</a:t>
            </a:r>
            <a:r>
              <a:rPr lang="ko-KR" altLang="en-US"/>
              <a:t> </a:t>
            </a:r>
            <a:r>
              <a:rPr lang="en-US" altLang="ko-KR"/>
              <a:t>.rodata</a:t>
            </a:r>
            <a:r>
              <a:rPr lang="ko-KR" altLang="en-US"/>
              <a:t>가 어디서 시작하는지는 그 앞에 오는 </a:t>
            </a:r>
            <a:r>
              <a:rPr lang="en-US" altLang="ko-KR"/>
              <a:t>.text</a:t>
            </a:r>
            <a:r>
              <a:rPr lang="ko-KR" altLang="en-US"/>
              <a:t> 전체가 얼마나 큰지에 달려있기 때문에 모름</a:t>
            </a:r>
            <a:r>
              <a:rPr lang="en-US" altLang="ko-KR"/>
              <a:t>(</a:t>
            </a:r>
            <a:r>
              <a:rPr lang="ko-KR" altLang="en-US"/>
              <a:t>요즘엔 아니긴 한데 그래도 원리는 같음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89494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e8: call, </a:t>
            </a:r>
            <a:r>
              <a:rPr lang="ko-KR" altLang="en-US"/>
              <a:t>그리고 바로 뒤에 상대 이동량이 온다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CPU</a:t>
            </a:r>
            <a:r>
              <a:rPr lang="ko-KR" altLang="en-US"/>
              <a:t>가 명령어를 실행할 때 다음 명령어 위치 </a:t>
            </a:r>
            <a:r>
              <a:rPr lang="en-US" altLang="ko-KR"/>
              <a:t>+ </a:t>
            </a:r>
            <a:r>
              <a:rPr lang="ko-KR" altLang="en-US"/>
              <a:t>이 </a:t>
            </a:r>
            <a:r>
              <a:rPr lang="en-US" altLang="ko-KR"/>
              <a:t>4</a:t>
            </a:r>
            <a:r>
              <a:rPr lang="ko-KR" altLang="en-US"/>
              <a:t>바이트값을 계산해서 점프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lea:</a:t>
            </a:r>
            <a:r>
              <a:rPr lang="ko-KR" altLang="en-US"/>
              <a:t> 이 주소를 계산해서 레지스터에 담아라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307331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둘다 같은 </a:t>
            </a:r>
            <a:r>
              <a:rPr lang="en-US" altLang="ko-KR"/>
              <a:t>ABI</a:t>
            </a:r>
            <a:r>
              <a:rPr lang="ko-KR" altLang="en-US"/>
              <a:t>를 따르기 때문에 </a:t>
            </a:r>
            <a:r>
              <a:rPr lang="en-US" altLang="ko-KR"/>
              <a:t>main.o</a:t>
            </a:r>
            <a:r>
              <a:rPr lang="ko-KR" altLang="en-US"/>
              <a:t>랑 </a:t>
            </a:r>
            <a:r>
              <a:rPr lang="en-US" altLang="ko-KR"/>
              <a:t>libc.so</a:t>
            </a:r>
            <a:r>
              <a:rPr lang="ko-KR" altLang="en-US"/>
              <a:t>가 연결될 수 있음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92663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-o :</a:t>
            </a:r>
            <a:r>
              <a:rPr lang="ko-KR" altLang="en-US"/>
              <a:t> 이 이름으로 저장해</a:t>
            </a:r>
            <a:r>
              <a:rPr lang="en-US" altLang="ko-KR"/>
              <a:t>!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267070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엄청 늘어남 </a:t>
            </a:r>
            <a:r>
              <a:rPr lang="en-US" altLang="ko-KR"/>
              <a:t>.dynsym</a:t>
            </a:r>
            <a:r>
              <a:rPr lang="ko-KR" altLang="en-US"/>
              <a:t>이라는게 생김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06644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math</a:t>
            </a:r>
            <a:r>
              <a:rPr lang="ko-KR" altLang="en-US"/>
              <a:t>에는 </a:t>
            </a:r>
            <a:r>
              <a:rPr lang="en-US" altLang="ko-KR"/>
              <a:t>rodata</a:t>
            </a:r>
            <a:r>
              <a:rPr lang="ko-KR" altLang="en-US"/>
              <a:t>가 없는데 왜 주소를 모르냐</a:t>
            </a:r>
            <a:r>
              <a:rPr lang="en-US" altLang="ko-KR"/>
              <a:t>?</a:t>
            </a:r>
            <a:r>
              <a:rPr lang="ko-KR" altLang="en-US"/>
              <a:t> </a:t>
            </a:r>
            <a:r>
              <a:rPr lang="en-US" altLang="ko-KR"/>
              <a:t>.rodata</a:t>
            </a:r>
            <a:r>
              <a:rPr lang="ko-KR" altLang="en-US"/>
              <a:t>가 어디서 시작하는지는 그 앞에 오는 </a:t>
            </a:r>
            <a:r>
              <a:rPr lang="en-US" altLang="ko-KR"/>
              <a:t>.text</a:t>
            </a:r>
            <a:r>
              <a:rPr lang="ko-KR" altLang="en-US"/>
              <a:t> 전체가 얼마나 큰지에 달려있기 때문에 모름</a:t>
            </a:r>
            <a:r>
              <a:rPr lang="en-US" altLang="ko-KR"/>
              <a:t>(</a:t>
            </a:r>
            <a:r>
              <a:rPr lang="ko-KR" altLang="en-US"/>
              <a:t>요즘엔 아니긴 한데 그래도 원리는 같음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276590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가리키는 주소 칸의 크기 와 그 주소가 가리키는 데이터 자체의 크기는 완전히 독립적인 개념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124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Relationship Id="rId4" Type="http://schemas.openxmlformats.org/officeDocument/2006/relationships/image" Target="../media/image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1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목적 파일과 실행 파일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2026114772 </a:t>
            </a:r>
            <a:r>
              <a:rPr lang="ko-KR" altLang="en-US"/>
              <a:t>컴퓨터공학과 김담희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165271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주제 선정 이유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컴파일 파이프라인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ELF?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목적 파일</a:t>
            </a:r>
            <a:r>
              <a:rPr lang="en-US" altLang="ko-KR"/>
              <a:t>(.o)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링킹 과정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실행파일이란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3939976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주제 선정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커널 모드 </a:t>
            </a:r>
            <a:r>
              <a:rPr lang="en-US" altLang="ko-KR"/>
              <a:t>vs</a:t>
            </a:r>
            <a:r>
              <a:rPr lang="ko-KR" altLang="en-US"/>
              <a:t> 유저모드 발표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printf</a:t>
            </a:r>
            <a:r>
              <a:rPr lang="ko-KR" altLang="en-US"/>
              <a:t>로 설명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printf</a:t>
            </a:r>
            <a:r>
              <a:rPr lang="ko-KR" altLang="en-US"/>
              <a:t>를 분석해볼까나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~..</a:t>
            </a:r>
            <a:r>
              <a:rPr lang="ko-KR" altLang="en-US"/>
              <a:t> 뭔지 하나도 모르겠음 </a:t>
            </a:r>
            <a:r>
              <a:rPr lang="en-US" altLang="ko-KR"/>
              <a:t>..~</a:t>
            </a:r>
            <a:r>
              <a:rPr lang="ko-KR" altLang="en-US"/>
              <a:t> </a:t>
            </a:r>
            <a:r>
              <a:rPr lang="en-US" altLang="ko-KR"/>
              <a:t>&gt;</a:t>
            </a:r>
            <a:r>
              <a:rPr lang="ko-KR" altLang="en-US"/>
              <a:t> 저번주에 발표 하려다가 포기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책 뒤적뒤적 거리다가 목적 파일 </a:t>
            </a:r>
            <a:r>
              <a:rPr lang="en-US" altLang="ko-KR"/>
              <a:t>VS</a:t>
            </a:r>
            <a:r>
              <a:rPr lang="ko-KR" altLang="en-US"/>
              <a:t> 실행파일 발견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오</a:t>
            </a:r>
            <a:r>
              <a:rPr lang="en-US" altLang="ko-KR"/>
              <a:t>...</a:t>
            </a:r>
            <a:r>
              <a:rPr lang="ko-KR" altLang="en-US"/>
              <a:t> 이거 하자</a:t>
            </a:r>
            <a:r>
              <a:rPr lang="en-US" altLang="ko-KR"/>
              <a:t>!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4660657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컴파일 파이프라인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1" y="4946759"/>
            <a:ext cx="10972798" cy="1196866"/>
          </a:xfrm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>목적 파일은 링크 전 결과물</a:t>
            </a:r>
            <a:r>
              <a:rPr lang="en-US" altLang="ko-KR"/>
              <a:t>,</a:t>
            </a:r>
            <a:r>
              <a:rPr lang="ko-KR" altLang="en-US"/>
              <a:t> 실행 파일은 링크 후 결과물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링킹</a:t>
            </a:r>
            <a:r>
              <a:rPr lang="en-US" altLang="ko-KR"/>
              <a:t>:</a:t>
            </a:r>
            <a:r>
              <a:rPr lang="ko-KR" altLang="en-US"/>
              <a:t> 다른 </a:t>
            </a:r>
            <a:r>
              <a:rPr lang="en-US" altLang="ko-KR"/>
              <a:t>.o</a:t>
            </a:r>
            <a:r>
              <a:rPr lang="ko-KR" altLang="en-US"/>
              <a:t> 파일</a:t>
            </a:r>
            <a:r>
              <a:rPr lang="en-US" altLang="ko-KR"/>
              <a:t>,</a:t>
            </a:r>
            <a:r>
              <a:rPr lang="ko-KR" altLang="en-US"/>
              <a:t> 라이브러리와 결합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87351" y="1579562"/>
            <a:ext cx="1954212" cy="106362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소스코드</a:t>
            </a:r>
            <a:endParaRPr lang="ko-KR" altLang="en-US"/>
          </a:p>
          <a:p>
            <a:pPr lvl="0" algn="ctr">
              <a:defRPr/>
            </a:pPr>
            <a:r>
              <a:rPr lang="en-US" altLang="ko-KR"/>
              <a:t>.c</a:t>
            </a:r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2889251" y="1579562"/>
            <a:ext cx="1954212" cy="106362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전처리된 소스</a:t>
            </a:r>
            <a:endParaRPr lang="ko-KR" altLang="en-US"/>
          </a:p>
          <a:p>
            <a:pPr lvl="0" algn="ctr">
              <a:defRPr/>
            </a:pPr>
            <a:r>
              <a:rPr lang="en-US" altLang="ko-KR"/>
              <a:t>.i</a:t>
            </a:r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5391151" y="1625391"/>
            <a:ext cx="1954212" cy="1063625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어셈블리</a:t>
            </a:r>
            <a:endParaRPr lang="ko-KR" altLang="en-US"/>
          </a:p>
          <a:p>
            <a:pPr lvl="0" algn="ctr">
              <a:defRPr/>
            </a:pPr>
            <a:r>
              <a:rPr lang="en-US" altLang="ko-KR"/>
              <a:t>.s</a:t>
            </a:r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>
            <a:off x="7893051" y="1625391"/>
            <a:ext cx="1954212" cy="1063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목적 파일</a:t>
            </a:r>
            <a:endParaRPr lang="ko-KR" altLang="en-US">
              <a:solidFill>
                <a:schemeClr val="dk1"/>
              </a:solidFill>
            </a:endParaRPr>
          </a:p>
          <a:p>
            <a:pPr lvl="0" algn="ctr">
              <a:defRPr/>
            </a:pPr>
            <a:r>
              <a:rPr lang="en-US" altLang="ko-KR">
                <a:solidFill>
                  <a:schemeClr val="dk1"/>
                </a:solidFill>
              </a:rPr>
              <a:t>.o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825700" y="3188871"/>
            <a:ext cx="1954212" cy="1063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실행파일</a:t>
            </a:r>
            <a:endParaRPr lang="ko-KR" altLang="en-US">
              <a:solidFill>
                <a:schemeClr val="dk1"/>
              </a:solidFill>
            </a:endParaRPr>
          </a:p>
          <a:p>
            <a:pPr lvl="0" algn="ctr">
              <a:defRPr/>
            </a:pPr>
            <a:r>
              <a:rPr lang="en-US" altLang="ko-KR">
                <a:solidFill>
                  <a:schemeClr val="dk1"/>
                </a:solidFill>
              </a:rPr>
              <a:t>ELF executable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14" name="오른쪽 화살표 13"/>
          <p:cNvSpPr/>
          <p:nvPr/>
        </p:nvSpPr>
        <p:spPr>
          <a:xfrm rot="5527282">
            <a:off x="10284538" y="2111374"/>
            <a:ext cx="1036536" cy="7778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/>
          </a:p>
        </p:txBody>
      </p:sp>
      <p:sp>
        <p:nvSpPr>
          <p:cNvPr id="15" name="직사각형 14"/>
          <p:cNvSpPr/>
          <p:nvPr/>
        </p:nvSpPr>
        <p:spPr>
          <a:xfrm>
            <a:off x="10017125" y="1865312"/>
            <a:ext cx="1000124" cy="4127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>
                <a:solidFill>
                  <a:schemeClr val="dk1"/>
                </a:solidFill>
              </a:rPr>
              <a:t>링킹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7" name="위쪽 화살표 설명선 16"/>
          <p:cNvSpPr/>
          <p:nvPr/>
        </p:nvSpPr>
        <p:spPr>
          <a:xfrm>
            <a:off x="1853010" y="2546142"/>
            <a:ext cx="1524794" cy="1174541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전처리</a:t>
            </a:r>
            <a:endParaRPr lang="ko-KR" altLang="en-US"/>
          </a:p>
        </p:txBody>
      </p:sp>
      <p:sp>
        <p:nvSpPr>
          <p:cNvPr id="19" name="위쪽 화살표 설명선 18"/>
          <p:cNvSpPr/>
          <p:nvPr/>
        </p:nvSpPr>
        <p:spPr>
          <a:xfrm>
            <a:off x="4354910" y="2546142"/>
            <a:ext cx="1524794" cy="1174541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컴파일</a:t>
            </a:r>
            <a:endParaRPr lang="ko-KR" altLang="en-US"/>
          </a:p>
        </p:txBody>
      </p:sp>
      <p:sp>
        <p:nvSpPr>
          <p:cNvPr id="20" name="위쪽 화살표 설명선 19"/>
          <p:cNvSpPr/>
          <p:nvPr/>
        </p:nvSpPr>
        <p:spPr>
          <a:xfrm>
            <a:off x="6856809" y="2546142"/>
            <a:ext cx="1524794" cy="1174541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어셈블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61116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ELF?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250532"/>
            <a:ext cx="10972798" cy="1057820"/>
          </a:xfrm>
        </p:spPr>
        <p:txBody>
          <a:bodyPr/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altLang="ko-KR" sz="2800"/>
              <a:t>Executable and Linkable Format :</a:t>
            </a:r>
            <a:r>
              <a:rPr lang="ko-KR" altLang="en-US" sz="2800"/>
              <a:t> 리눅스 및 유닉스 계열 운영체제에서 사용하는 표준 바이너리 파일 형식</a:t>
            </a:r>
            <a:endParaRPr lang="ko-KR" altLang="en-US" sz="2800"/>
          </a:p>
          <a:p>
            <a:pPr lvl="0">
              <a:defRPr/>
            </a:pPr>
            <a:endParaRPr lang="ko-KR" altLang="en-US" sz="2800"/>
          </a:p>
        </p:txBody>
      </p:sp>
      <p:sp>
        <p:nvSpPr>
          <p:cNvPr id="7" name="내용 개체 틀 2"/>
          <p:cNvSpPr/>
          <p:nvPr/>
        </p:nvSpPr>
        <p:spPr>
          <a:xfrm>
            <a:off x="857357" y="2419479"/>
            <a:ext cx="10725040" cy="2721244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ELF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파일의 내부 구조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ELF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헤더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프로그램 헤더 테이블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이 파일을 메모리에 어떻게 올려야 하는지 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섹션 헤더 테이블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이 파일이 어떤 내용물들로 구성되어 있는지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02781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목적 파일</a:t>
            </a:r>
            <a:r>
              <a:rPr lang="en-US" altLang="ko-KR"/>
              <a:t>(.o)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03226" y="1405522"/>
            <a:ext cx="11385548" cy="4609516"/>
          </a:xfrm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>하나의 소스 파일</a:t>
            </a:r>
            <a:r>
              <a:rPr lang="en-US" altLang="ko-KR"/>
              <a:t>(</a:t>
            </a:r>
            <a:r>
              <a:rPr lang="ko-KR" altLang="en-US"/>
              <a:t>번역 단위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translation unit)</a:t>
            </a:r>
            <a:r>
              <a:rPr lang="ko-KR" altLang="en-US"/>
              <a:t>을 컴파일 </a:t>
            </a:r>
            <a:r>
              <a:rPr lang="en-US" altLang="ko-KR"/>
              <a:t>&gt;</a:t>
            </a:r>
            <a:r>
              <a:rPr lang="ko-KR" altLang="en-US"/>
              <a:t>어셈블한 결과물</a:t>
            </a:r>
            <a:r>
              <a:rPr lang="en-US" altLang="ko-KR"/>
              <a:t>.</a:t>
            </a:r>
            <a:r>
              <a:rPr lang="ko-KR" altLang="en-US"/>
              <a:t> 그 자체로는 실행 불가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실행이</a:t>
            </a:r>
            <a:r>
              <a:rPr lang="en-US" altLang="ko-KR"/>
              <a:t> </a:t>
            </a:r>
            <a:r>
              <a:rPr lang="ko-KR" altLang="en-US"/>
              <a:t>안되는 이유</a:t>
            </a:r>
            <a:endParaRPr lang="ko-KR" altLang="en-US"/>
          </a:p>
          <a:p>
            <a:pPr marL="457200" lvl="1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다른 파일에 정의된 함수</a:t>
            </a:r>
            <a:r>
              <a:rPr lang="en-US" altLang="ko-KR"/>
              <a:t>/</a:t>
            </a:r>
            <a:r>
              <a:rPr lang="ko-KR" altLang="en-US"/>
              <a:t>변수를 아직 찾지 못함</a:t>
            </a:r>
            <a:r>
              <a:rPr lang="en-US" altLang="ko-KR"/>
              <a:t>(undefined symbol)</a:t>
            </a:r>
            <a:r>
              <a:rPr lang="ko-KR" altLang="en-US"/>
              <a:t> </a:t>
            </a:r>
            <a:endParaRPr lang="ko-KR" altLang="en-US"/>
          </a:p>
          <a:p>
            <a:pPr marL="457200" lvl="1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실제 메모리 주소가 아직 정해지지 않음</a:t>
            </a:r>
            <a:r>
              <a:rPr lang="en-US" altLang="ko-KR"/>
              <a:t>(</a:t>
            </a:r>
            <a:r>
              <a:rPr lang="ko-KR" altLang="en-US"/>
              <a:t>링커가 나중에 채워 넣을 자리만 있음</a:t>
            </a:r>
            <a:r>
              <a:rPr lang="en-US" altLang="ko-KR"/>
              <a:t>)</a:t>
            </a:r>
            <a:endParaRPr lang="en-US" altLang="ko-KR"/>
          </a:p>
          <a:p>
            <a:pPr marL="457200" lvl="1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OS</a:t>
            </a:r>
            <a:r>
              <a:rPr lang="ko-KR" altLang="en-US"/>
              <a:t>가 메모리에 어떻게 적재해야 할지 알려주는 정보</a:t>
            </a:r>
            <a:r>
              <a:rPr lang="en-US" altLang="ko-KR"/>
              <a:t>(</a:t>
            </a:r>
            <a:r>
              <a:rPr lang="ko-KR" altLang="en-US"/>
              <a:t>프로그램 헤더</a:t>
            </a:r>
            <a:r>
              <a:rPr lang="en-US" altLang="ko-KR"/>
              <a:t>)</a:t>
            </a:r>
            <a:r>
              <a:rPr lang="ko-KR" altLang="en-US"/>
              <a:t>가 없음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61290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목적 파일</a:t>
            </a:r>
            <a:r>
              <a:rPr lang="en-US" altLang="ko-KR"/>
              <a:t>(.o)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en-US" altLang="ko-KR"/>
          </a:p>
        </p:txBody>
      </p:sp>
      <p:graphicFrame>
        <p:nvGraphicFramePr>
          <p:cNvPr id="5" name=""/>
          <p:cNvGraphicFramePr>
            <a:graphicFrameLocks noGrp="1"/>
          </p:cNvGraphicFramePr>
          <p:nvPr>
            <p:ph idx="1"/>
          </p:nvPr>
        </p:nvGraphicFramePr>
        <p:xfrm>
          <a:off x="609599" y="1845128"/>
          <a:ext cx="10976609" cy="4701717"/>
        </p:xfrm>
        <a:graphic>
          <a:graphicData uri="http://schemas.openxmlformats.org/drawingml/2006/table">
            <a:tbl>
              <a:tblPr firstRow="1" bandRow="1">
                <a:tableStyleId>{F77BBAD0-2FD1-4BB3-BED5-B7D4590D3504}</a:tableStyleId>
              </a:tblPr>
              <a:tblGrid>
                <a:gridCol w="2125980"/>
                <a:gridCol w="8850629"/>
              </a:tblGrid>
              <a:tr h="56898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구성요소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설명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6898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.text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컴파일된 기계어 코드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6898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.data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초기화된 전역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정적 변수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6898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.bss</a:t>
                      </a:r>
                      <a:r>
                        <a:rPr lang="ko-KR" altLang="en-US"/>
                        <a:t> 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초기화되지 않은 전역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정적 변수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6898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.symtab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심볼 테이블</a:t>
                      </a:r>
                      <a:r>
                        <a:rPr lang="en-US" altLang="ko-KR"/>
                        <a:t>-</a:t>
                      </a:r>
                      <a:r>
                        <a:rPr lang="ko-KR" altLang="en-US"/>
                        <a:t>이 파일이 정의한 심볼 </a:t>
                      </a:r>
                      <a:r>
                        <a:rPr lang="en-US" altLang="ko-KR"/>
                        <a:t>+</a:t>
                      </a:r>
                      <a:r>
                        <a:rPr lang="ko-KR" altLang="en-US"/>
                        <a:t> 필요로 하는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외부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 심볼 목록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61158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.rela.text</a:t>
                      </a:r>
                      <a:endParaRPr lang="en-US" altLang="ko-KR"/>
                    </a:p>
                    <a:p>
                      <a:pPr lvl="0">
                        <a:defRPr/>
                      </a:pPr>
                      <a:r>
                        <a:rPr lang="en-US" altLang="ko-KR"/>
                        <a:t>.rela.data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재배치</a:t>
                      </a:r>
                      <a:r>
                        <a:rPr lang="en-US" altLang="ko-KR"/>
                        <a:t>(relocation)</a:t>
                      </a:r>
                      <a:r>
                        <a:rPr lang="ko-KR" altLang="en-US"/>
                        <a:t>정보 </a:t>
                      </a:r>
                      <a:r>
                        <a:rPr lang="en-US" altLang="ko-KR"/>
                        <a:t>-</a:t>
                      </a:r>
                      <a:r>
                        <a:rPr lang="ko-KR" altLang="en-US"/>
                        <a:t> 이 자리에 나중에 어떤 심볼의 주소를 채워 넣어라는 지시서</a:t>
                      </a:r>
                      <a:endParaRPr lang="ko-KR" altLang="en-US"/>
                    </a:p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61158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.strtab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심볼 이름 문자열 테이블</a:t>
                      </a:r>
                      <a:endParaRPr lang="ko-KR" altLang="en-US"/>
                    </a:p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68989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ELF</a:t>
                      </a:r>
                      <a:r>
                        <a:rPr lang="ko-KR" altLang="en-US"/>
                        <a:t> 헤더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파일 타입이 </a:t>
                      </a:r>
                      <a:r>
                        <a:rPr lang="en-US" altLang="ko-KR"/>
                        <a:t>ET_REL(relocatable)</a:t>
                      </a:r>
                      <a:r>
                        <a:rPr lang="ko-KR" altLang="en-US"/>
                        <a:t>로 표시됨</a:t>
                      </a: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348184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링킹 과정 </a:t>
            </a:r>
            <a:r>
              <a:rPr lang="en-US" altLang="ko-KR"/>
              <a:t>(</a:t>
            </a:r>
            <a:r>
              <a:rPr lang="ko-KR" altLang="en-US"/>
              <a:t>목적 파일 </a:t>
            </a:r>
            <a:r>
              <a:rPr lang="en-US" altLang="ko-KR"/>
              <a:t>-&gt;</a:t>
            </a:r>
            <a:r>
              <a:rPr lang="ko-KR" altLang="en-US"/>
              <a:t> 실행 파일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516647"/>
            <a:ext cx="10972798" cy="614702"/>
          </a:xfrm>
        </p:spPr>
        <p:txBody>
          <a:bodyPr/>
          <a:p>
            <a:pPr lvl="0">
              <a:defRPr/>
            </a:pPr>
            <a:r>
              <a:rPr lang="en-US" altLang="ko-KR"/>
              <a:t>(1)</a:t>
            </a:r>
            <a:r>
              <a:rPr lang="ko-KR" altLang="en-US"/>
              <a:t> 심볼 해석</a:t>
            </a:r>
            <a:endParaRPr lang="ko-KR" altLang="en-US"/>
          </a:p>
          <a:p>
            <a:pPr marL="0" lvl="0" indent="0">
              <a:buNone/>
              <a:defRPr/>
            </a:pPr>
            <a:endParaRPr lang="en-US" altLang="ko-KR"/>
          </a:p>
        </p:txBody>
      </p:sp>
      <p:sp>
        <p:nvSpPr>
          <p:cNvPr id="5" name="내용 개체 틀 2"/>
          <p:cNvSpPr/>
          <p:nvPr/>
        </p:nvSpPr>
        <p:spPr>
          <a:xfrm>
            <a:off x="787306" y="2131349"/>
            <a:ext cx="11219881" cy="382761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심볼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(Symbol)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이름이 붙은 메모리 위치</a:t>
            </a:r>
            <a:b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ex) 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함수 이름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전역 변수 이름 </a:t>
            </a:r>
            <a:endPara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여러 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파일을 모아서 각 파일이 필요로 하는 심볼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(nudefined)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다른 파일에 정의한 심볼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(defined)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과 매칭</a:t>
            </a:r>
            <a:endPara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ex) main.o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라는 함수를 부르는데 정의 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endPara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 math.o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정의를 찾아 연결</a:t>
            </a:r>
            <a:endParaRPr xmlns:mc="http://schemas.openxmlformats.org/markup-compatibility/2006" xmlns:hp="http://schemas.haansoft.com/office/presentation/8.0" kumimoji="0" lang="ko-KR" altLang="en-US" sz="26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133242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4.</a:t>
            </a:r>
            <a:r>
              <a:rPr lang="ko-KR" altLang="en-US"/>
              <a:t> 링킹 과정 </a:t>
            </a:r>
            <a:r>
              <a:rPr lang="en-US" altLang="ko-KR"/>
              <a:t>(</a:t>
            </a:r>
            <a:r>
              <a:rPr lang="ko-KR" altLang="en-US"/>
              <a:t>목적 파일 </a:t>
            </a:r>
            <a:r>
              <a:rPr lang="en-US" altLang="ko-KR"/>
              <a:t>-&gt;</a:t>
            </a:r>
            <a:r>
              <a:rPr lang="ko-KR" altLang="en-US"/>
              <a:t> 실행 파일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516647"/>
            <a:ext cx="10972798" cy="614702"/>
          </a:xfrm>
        </p:spPr>
        <p:txBody>
          <a:bodyPr/>
          <a:p>
            <a:pPr lvl="0">
              <a:defRPr/>
            </a:pPr>
            <a:r>
              <a:rPr lang="en-US" altLang="ko-KR"/>
              <a:t>(2)</a:t>
            </a:r>
            <a:r>
              <a:rPr lang="ko-KR" altLang="en-US"/>
              <a:t> 재배치</a:t>
            </a: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</p:txBody>
      </p:sp>
      <p:sp>
        <p:nvSpPr>
          <p:cNvPr id="5" name="내용 개체 틀 2"/>
          <p:cNvSpPr/>
          <p:nvPr/>
        </p:nvSpPr>
        <p:spPr>
          <a:xfrm>
            <a:off x="884110" y="2325078"/>
            <a:ext cx="10265028" cy="3770031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심볼 해석이 끝난 뒤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각 섹션을 실행 파일에 실제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또는 상대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주소 공간에 배치하고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b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목적 파일에 남겨뒀던 빈자리에 진짜 주소 값을 채워 넣음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정적 링킹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동적 링킹 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lvl="1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정적 링킹: 정적 라이브러리를 파일에 복사함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57300" lvl="2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libc.a(수백 개의 .o 묶음)에서 필요한 것만 꺼내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914400" lvl="2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다른 .o 파일들처럼 실행 파일에 병합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800100" lvl="1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동적 링킹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실행 파일에는 참조만 남고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실행 시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.so(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고유 오브젝트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로드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32673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en-US" altLang="ko-KR"/>
              <a:t>5.</a:t>
            </a:r>
            <a:r>
              <a:rPr lang="ko-KR" altLang="en-US"/>
              <a:t> 실행파일이란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7874" y="1152714"/>
            <a:ext cx="10972798" cy="614702"/>
          </a:xfrm>
        </p:spPr>
        <p:txBody>
          <a:bodyPr/>
          <a:p>
            <a:pPr lvl="0">
              <a:defRPr/>
            </a:pPr>
            <a:r>
              <a:rPr lang="ko-KR" altLang="en-US"/>
              <a:t>링킹이 끝난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OS</a:t>
            </a:r>
            <a:r>
              <a:rPr lang="ko-KR" altLang="en-US"/>
              <a:t>가 바로 메모리에 올려 실행할 수 있는 파일</a:t>
            </a:r>
            <a:endParaRPr lang="ko-KR" altLang="en-US"/>
          </a:p>
        </p:txBody>
      </p:sp>
      <p:sp>
        <p:nvSpPr>
          <p:cNvPr id="5" name="내용 개체 틀 2"/>
          <p:cNvSpPr/>
          <p:nvPr/>
        </p:nvSpPr>
        <p:spPr>
          <a:xfrm>
            <a:off x="884110" y="2325078"/>
            <a:ext cx="10423779" cy="3706531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777874" y="1767416"/>
          <a:ext cx="10804712" cy="4978944"/>
        </p:xfrm>
        <a:graphic>
          <a:graphicData uri="http://schemas.openxmlformats.org/drawingml/2006/table">
            <a:tbl>
              <a:tblPr firstRow="1" bandRow="1">
                <a:tableStyleId>{F77BBAD0-2FD1-4BB3-BED5-B7D4590D3504}</a:tableStyleId>
              </a:tblPr>
              <a:tblGrid>
                <a:gridCol w="3602165"/>
                <a:gridCol w="3600192"/>
                <a:gridCol w="3602355"/>
              </a:tblGrid>
              <a:tr h="475161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항목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목적파일</a:t>
                      </a:r>
                      <a:r>
                        <a:rPr lang="en-US" altLang="ko-KR" sz="2400"/>
                        <a:t>(.o)</a:t>
                      </a:r>
                      <a:endParaRPr lang="en-US" altLang="ko-KR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실행 파일</a:t>
                      </a:r>
                      <a:endParaRPr lang="ko-KR" altLang="en-US" sz="2400"/>
                    </a:p>
                  </a:txBody>
                  <a:tcPr marL="91440" marR="91440"/>
                </a:tc>
              </a:tr>
              <a:tr h="52278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400"/>
                        <a:t>ELF</a:t>
                      </a:r>
                      <a:r>
                        <a:rPr lang="ko-KR" altLang="en-US" sz="2400"/>
                        <a:t> 타입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400"/>
                        <a:t>ET_REL</a:t>
                      </a:r>
                      <a:endParaRPr lang="en-US" altLang="ko-KR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400"/>
                        <a:t>ET_EXEC</a:t>
                      </a:r>
                      <a:endParaRPr lang="en-US" altLang="ko-KR" sz="2400"/>
                    </a:p>
                  </a:txBody>
                  <a:tcPr marL="91440" marR="91440"/>
                </a:tc>
              </a:tr>
              <a:tr h="8248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프로그램 헤더</a:t>
                      </a:r>
                      <a:br>
                        <a:rPr lang="ko-KR" altLang="en-US" sz="2400"/>
                      </a:br>
                      <a:r>
                        <a:rPr lang="en-US" altLang="ko-KR" sz="2400"/>
                        <a:t>(Program Header)</a:t>
                      </a:r>
                      <a:endParaRPr lang="en-US" altLang="ko-KR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없음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있음</a:t>
                      </a:r>
                      <a:endParaRPr lang="ko-KR" altLang="en-US" sz="2400"/>
                    </a:p>
                    <a:p>
                      <a:pPr lvl="0" algn="ctr">
                        <a:defRPr/>
                      </a:pPr>
                      <a:endParaRPr lang="ko-KR" altLang="en-US" sz="2400"/>
                    </a:p>
                  </a:txBody>
                  <a:tcPr marL="91440" marR="91440"/>
                </a:tc>
              </a:tr>
              <a:tr h="8248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심볼 상태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400"/>
                        <a:t>undefined</a:t>
                      </a:r>
                      <a:r>
                        <a:rPr lang="ko-KR" altLang="en-US" sz="2400"/>
                        <a:t>가 많음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정적 링킹시 </a:t>
                      </a:r>
                      <a:endParaRPr lang="ko-KR" altLang="en-US" sz="2400"/>
                    </a:p>
                    <a:p>
                      <a:pPr lvl="0" algn="ctr">
                        <a:defRPr/>
                      </a:pPr>
                      <a:r>
                        <a:rPr lang="ko-KR" altLang="en-US" sz="2400"/>
                        <a:t>대부분 해석 완료</a:t>
                      </a:r>
                      <a:endParaRPr lang="ko-KR" altLang="en-US" sz="2400"/>
                    </a:p>
                  </a:txBody>
                  <a:tcPr marL="91440" marR="91440"/>
                </a:tc>
              </a:tr>
              <a:tr h="68153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재배치 섹션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있음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정적 링킹시 </a:t>
                      </a:r>
                      <a:endParaRPr lang="ko-KR" altLang="en-US" sz="2400"/>
                    </a:p>
                    <a:p>
                      <a:pPr lvl="0" algn="ctr">
                        <a:defRPr/>
                      </a:pPr>
                      <a:r>
                        <a:rPr lang="ko-KR" altLang="en-US" sz="2400"/>
                        <a:t>거의 소멸</a:t>
                      </a:r>
                      <a:endParaRPr lang="ko-KR" altLang="en-US" sz="2400"/>
                    </a:p>
                  </a:txBody>
                  <a:tcPr marL="91440" marR="91440"/>
                </a:tc>
              </a:tr>
              <a:tr h="82486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엔트리 포인트 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의미 없음 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2400"/>
                        <a:t>_start </a:t>
                      </a:r>
                      <a:r>
                        <a:rPr lang="ko-KR" altLang="en-US" sz="2400"/>
                        <a:t>주소 지정됨</a:t>
                      </a:r>
                      <a:endParaRPr lang="ko-KR" altLang="en-US" sz="2400"/>
                    </a:p>
                    <a:p>
                      <a:pPr lvl="0" algn="ctr">
                        <a:defRPr/>
                      </a:pPr>
                      <a:r>
                        <a:rPr lang="en-US" altLang="ko-KR" sz="2400"/>
                        <a:t>(OS</a:t>
                      </a:r>
                      <a:r>
                        <a:rPr lang="ko-KR" altLang="en-US" sz="2400"/>
                        <a:t>가 실행 시작할 위치</a:t>
                      </a:r>
                      <a:r>
                        <a:rPr lang="en-US" altLang="ko-KR" sz="2400"/>
                        <a:t>)</a:t>
                      </a:r>
                      <a:endParaRPr lang="en-US" altLang="ko-KR" sz="2400"/>
                    </a:p>
                  </a:txBody>
                  <a:tcPr marL="91440" marR="91440"/>
                </a:tc>
              </a:tr>
              <a:tr h="68153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단독 실행 가능 여부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불가능 </a:t>
                      </a:r>
                      <a:endParaRPr lang="ko-KR" altLang="en-US" sz="24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400"/>
                        <a:t>가능</a:t>
                      </a:r>
                      <a:endParaRPr lang="ko-KR" altLang="en-US" sz="2400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960598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22169"/>
          </a:xfrm>
        </p:spPr>
        <p:txBody>
          <a:bodyPr/>
          <a:p>
            <a:pPr lvl="0">
              <a:defRPr/>
            </a:pPr>
            <a:r>
              <a:rPr lang="ko-KR" altLang="en-US"/>
              <a:t>만든 파일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0084" y="1196807"/>
            <a:ext cx="6302661" cy="22321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3703" y="3429000"/>
            <a:ext cx="9436725" cy="188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2220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51071" y="1040659"/>
            <a:ext cx="11091984" cy="1712847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 sz="2200"/>
              <a:t>심볼 테이블</a:t>
            </a:r>
            <a:endParaRPr lang="ko-KR" altLang="en-US" sz="2200"/>
          </a:p>
          <a:p>
            <a:pPr lvl="1">
              <a:defRPr/>
            </a:pPr>
            <a:r>
              <a:rPr lang="en-US" altLang="ko-KR" sz="2200"/>
              <a:t>add</a:t>
            </a:r>
            <a:r>
              <a:rPr lang="ko-KR" altLang="en-US" sz="2200"/>
              <a:t>랑 </a:t>
            </a:r>
            <a:r>
              <a:rPr lang="en-US" altLang="ko-KR" sz="2200"/>
              <a:t>printf</a:t>
            </a:r>
            <a:r>
              <a:rPr lang="ko-KR" altLang="en-US" sz="2200"/>
              <a:t>가 </a:t>
            </a:r>
            <a:r>
              <a:rPr lang="en-US" altLang="ko-KR" sz="2200"/>
              <a:t>UND(undefined)</a:t>
            </a:r>
            <a:r>
              <a:rPr lang="ko-KR" altLang="en-US" sz="2200"/>
              <a:t> </a:t>
            </a:r>
            <a:r>
              <a:rPr lang="en-US" altLang="ko-KR" sz="2200"/>
              <a:t>-&gt; </a:t>
            </a:r>
            <a:r>
              <a:rPr lang="ko-KR" altLang="en-US" sz="2200"/>
              <a:t>이름은 쓰지만 찾을 수 없음 </a:t>
            </a:r>
            <a:endParaRPr lang="ko-KR" altLang="en-US" sz="2200"/>
          </a:p>
          <a:p>
            <a:pPr lvl="0">
              <a:defRPr/>
            </a:pPr>
            <a:endParaRPr lang="ko-KR" altLang="en-US" sz="2200"/>
          </a:p>
        </p:txBody>
      </p:sp>
      <p:grpSp>
        <p:nvGrpSpPr>
          <p:cNvPr id="12" name=""/>
          <p:cNvGrpSpPr/>
          <p:nvPr/>
        </p:nvGrpSpPr>
        <p:grpSpPr>
          <a:xfrm rot="0">
            <a:off x="851072" y="2108652"/>
            <a:ext cx="10439321" cy="3824517"/>
            <a:chOff x="486603" y="324554"/>
            <a:chExt cx="8738428" cy="2640695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86603" y="324554"/>
              <a:ext cx="8738429" cy="2640695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1076535" y="2232003"/>
              <a:ext cx="7558565" cy="73324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16" name="제목 1"/>
          <p:cNvSpPr>
            <a:spLocks noGrp="1"/>
          </p:cNvSpPr>
          <p:nvPr>
            <p:ph type="title" idx="0"/>
          </p:nvPr>
        </p:nvSpPr>
        <p:spPr>
          <a:xfrm>
            <a:off x="609599" y="274637"/>
            <a:ext cx="10972798" cy="766021"/>
          </a:xfrm>
        </p:spPr>
        <p:txBody>
          <a:bodyPr>
            <a:noAutofit/>
          </a:bodyPr>
          <a:p>
            <a:pPr marL="457200" lvl="1" indent="0">
              <a:buNone/>
              <a:tabLst>
                <a:tab pos="5650423" algn="l"/>
              </a:tabLst>
              <a:defRPr/>
            </a:pPr>
            <a:r>
              <a:rPr lang="en-US" altLang="ko-KR" sz="2300" b="1">
                <a:latin typeface="맑은 고딕"/>
                <a:ea typeface="맑은 고딕"/>
                <a:cs typeface="Arial"/>
              </a:rPr>
              <a:t>1.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 다른 파일에 정의된 함수/변수를 아직 찾지 못함(nudefined symbol)</a:t>
            </a:r>
            <a:endParaRPr lang="ko-KR" altLang="en-US" sz="2300" b="1">
              <a:latin typeface="맑은 고딕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498737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1062" y="2257927"/>
            <a:ext cx="11409876" cy="3050424"/>
          </a:xfrm>
          <a:prstGeom prst="rect">
            <a:avLst/>
          </a:prstGeom>
        </p:spPr>
      </p:pic>
      <p:sp>
        <p:nvSpPr>
          <p:cNvPr id="14" name="내용 개체 틀 2"/>
          <p:cNvSpPr/>
          <p:nvPr/>
        </p:nvSpPr>
        <p:spPr>
          <a:xfrm>
            <a:off x="550007" y="1172709"/>
            <a:ext cx="11091984" cy="8079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재배치 항목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lvl="1" indent="-28575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 자리에 나중에 뭘 채워 넣어야 하는지 적힌 목록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내용 개체 틀 2"/>
          <p:cNvSpPr/>
          <p:nvPr/>
        </p:nvSpPr>
        <p:spPr>
          <a:xfrm>
            <a:off x="490412" y="5585597"/>
            <a:ext cx="11091984" cy="13794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.rodata(read-only-data)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재배치 되어야 하는 이유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 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파일이 다른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파일과 어떤 순서로 합쳐져서 </a:t>
            </a:r>
            <a:r>
              <a:rPr xmlns:mc="http://schemas.openxmlformats.org/markup-compatibility/2006" xmlns:hp="http://schemas.haansoft.com/office/presentation/8.0" kumimoji="0" lang="en-US" altLang="ko-KR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.rodata</a:t>
            </a:r>
            <a:r>
              <a: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섹션이 몇 번지에 놓일지 모르기 때문에 비워둠</a:t>
            </a: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4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 idx="0"/>
          </p:nvPr>
        </p:nvSpPr>
        <p:spPr>
          <a:xfrm>
            <a:off x="323849" y="274637"/>
            <a:ext cx="11258548" cy="766021"/>
          </a:xfrm>
        </p:spPr>
        <p:txBody>
          <a:bodyPr>
            <a:noAutofit/>
          </a:bodyPr>
          <a:p>
            <a:pPr marL="457200" lvl="1" indent="0">
              <a:buNone/>
              <a:tabLst>
                <a:tab pos="5650423" algn="l"/>
              </a:tabLst>
              <a:defRPr/>
            </a:pPr>
            <a:r>
              <a:rPr lang="en-US" altLang="ko-KR" sz="2300" b="1">
                <a:latin typeface="맑은 고딕"/>
                <a:ea typeface="맑은 고딕"/>
                <a:cs typeface="Arial"/>
              </a:rPr>
              <a:t>2.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실제 메모리 주소가 아직 정해지지 않음(링커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가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 나중에 채워 넣을 자리만 있음)</a:t>
            </a:r>
            <a:endParaRPr lang="en-US" altLang="ko-KR" sz="2300" b="1">
              <a:latin typeface="맑은 고딕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3665520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r="53251" b="93748"/>
          <a:stretch>
            <a:fillRect/>
          </a:stretch>
        </p:blipFill>
        <p:spPr>
          <a:xfrm>
            <a:off x="1125543" y="256915"/>
            <a:ext cx="5607036" cy="415531"/>
          </a:xfrm>
          <a:prstGeom prst="rect">
            <a:avLst/>
          </a:prstGeom>
        </p:spPr>
      </p:pic>
      <p:grpSp>
        <p:nvGrpSpPr>
          <p:cNvPr id="22" name=""/>
          <p:cNvGrpSpPr/>
          <p:nvPr/>
        </p:nvGrpSpPr>
        <p:grpSpPr>
          <a:xfrm rot="0">
            <a:off x="739769" y="1668654"/>
            <a:ext cx="10712460" cy="4141594"/>
            <a:chOff x="411906" y="862815"/>
            <a:chExt cx="10712460" cy="4141594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4"/>
            <a:srcRect t="30232"/>
            <a:stretch>
              <a:fillRect/>
            </a:stretch>
          </p:blipFill>
          <p:spPr>
            <a:xfrm>
              <a:off x="411906" y="862815"/>
              <a:ext cx="10712459" cy="4141594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>
              <a:off x="519326" y="2539763"/>
              <a:ext cx="7609880" cy="2969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90751" y="3082688"/>
              <a:ext cx="7609880" cy="2969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90751" y="3911363"/>
              <a:ext cx="7609880" cy="2969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21" name="내용 개체 틀 2"/>
          <p:cNvSpPr/>
          <p:nvPr/>
        </p:nvSpPr>
        <p:spPr>
          <a:xfrm>
            <a:off x="286644" y="1061359"/>
            <a:ext cx="11091984" cy="8079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디스어셈블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재배치 항목에서 본 목록이 실제 기계어 코드 안에서 어떻게 생겼는지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19406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55304" y="1237590"/>
            <a:ext cx="5269159" cy="4609516"/>
          </a:xfrm>
          <a:ln>
            <a:solidFill>
              <a:schemeClr val="accent1"/>
            </a:solidFill>
          </a:ln>
        </p:spPr>
        <p:txBody>
          <a:bodyPr/>
          <a:p>
            <a:pPr lvl="0">
              <a:defRPr/>
            </a:pPr>
            <a:r>
              <a:rPr lang="en-US" altLang="ko-KR" sz="2200"/>
              <a:t>ELF</a:t>
            </a:r>
            <a:r>
              <a:rPr lang="ko-KR" altLang="en-US" sz="2200"/>
              <a:t> 헤더</a:t>
            </a:r>
            <a:r>
              <a:rPr lang="en-US" altLang="ko-KR" sz="2200"/>
              <a:t>:</a:t>
            </a:r>
            <a:r>
              <a:rPr lang="ko-KR" altLang="en-US" sz="2200"/>
              <a:t> 파일의 맨 앞에 위치하여 여러 정보를 담고 있는 파일</a:t>
            </a:r>
            <a:endParaRPr lang="ko-KR" altLang="en-US" sz="2200"/>
          </a:p>
          <a:p>
            <a:pPr lvl="0">
              <a:defRPr/>
            </a:pPr>
            <a:r>
              <a:rPr lang="en-US" altLang="ko-KR" sz="2200"/>
              <a:t>Start of program headers:</a:t>
            </a:r>
            <a:r>
              <a:rPr lang="ko-KR" altLang="en-US" sz="2200"/>
              <a:t> 프로그램 헤더</a:t>
            </a:r>
            <a:r>
              <a:rPr lang="en-US" altLang="ko-KR" sz="2200"/>
              <a:t> </a:t>
            </a:r>
            <a:r>
              <a:rPr lang="ko-KR" altLang="en-US" sz="2200"/>
              <a:t>시작지점 없음</a:t>
            </a:r>
            <a:endParaRPr lang="ko-KR" altLang="en-US" sz="2200"/>
          </a:p>
          <a:p>
            <a:pPr lvl="0">
              <a:defRPr/>
            </a:pPr>
            <a:r>
              <a:rPr lang="en-US" altLang="ko-KR" sz="2200"/>
              <a:t>Number of program headers: </a:t>
            </a:r>
            <a:br>
              <a:rPr lang="ko-KR" altLang="en-US" sz="2200"/>
            </a:br>
            <a:r>
              <a:rPr lang="ko-KR" altLang="en-US" sz="2200"/>
              <a:t>로더용 정보 없음</a:t>
            </a:r>
            <a:r>
              <a:rPr lang="en-US" altLang="ko-KR" sz="2200"/>
              <a:t>(OS</a:t>
            </a:r>
            <a:r>
              <a:rPr lang="ko-KR" altLang="en-US" sz="2200"/>
              <a:t>가 메모리에 올리고 실행하기 위한 안내서</a:t>
            </a:r>
            <a:r>
              <a:rPr lang="en-US" altLang="ko-KR" sz="2200"/>
              <a:t>)</a:t>
            </a:r>
            <a:endParaRPr lang="en-US" altLang="ko-KR" sz="22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11019"/>
          <a:stretch>
            <a:fillRect/>
          </a:stretch>
        </p:blipFill>
        <p:spPr>
          <a:xfrm>
            <a:off x="189590" y="1227361"/>
            <a:ext cx="6348477" cy="461974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38351" y="5054363"/>
            <a:ext cx="6027761" cy="251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09776" y="3939938"/>
            <a:ext cx="6027761" cy="251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제목 1"/>
          <p:cNvSpPr>
            <a:spLocks noGrp="1"/>
          </p:cNvSpPr>
          <p:nvPr>
            <p:ph type="title" idx="0"/>
          </p:nvPr>
        </p:nvSpPr>
        <p:spPr>
          <a:xfrm>
            <a:off x="609599" y="274637"/>
            <a:ext cx="10972798" cy="766021"/>
          </a:xfrm>
        </p:spPr>
        <p:txBody>
          <a:bodyPr>
            <a:noAutofit/>
          </a:bodyPr>
          <a:p>
            <a:pPr marL="457200" lvl="1" indent="0">
              <a:buNone/>
              <a:tabLst>
                <a:tab pos="5650423" algn="l"/>
              </a:tabLst>
              <a:defRPr/>
            </a:pPr>
            <a:r>
              <a:rPr lang="en-US" altLang="ko-KR" sz="2300" b="1">
                <a:latin typeface="맑은 고딕"/>
                <a:ea typeface="맑은 고딕"/>
                <a:cs typeface="Arial"/>
              </a:rPr>
              <a:t>3.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OS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가 메모리에 어떻게 적재해야 할지 알려주는 정보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(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프로그램 헤더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)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가 없음</a:t>
            </a:r>
            <a:br>
              <a:rPr lang="ko-KR" altLang="en-US" sz="2300" b="1">
                <a:ea typeface="맑은 고딕"/>
                <a:cs typeface="Arial"/>
              </a:rPr>
            </a:br>
            <a:endParaRPr lang="ko-KR" altLang="en-US" sz="2300" b="1">
              <a:latin typeface="맑은 고딕"/>
              <a:ea typeface="맑은 고딕"/>
              <a:cs typeface="Arial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55304" y="3987563"/>
            <a:ext cx="5349615" cy="66044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66926" y="2920763"/>
            <a:ext cx="6027761" cy="251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805336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975894"/>
          </a:xfrm>
        </p:spPr>
        <p:txBody>
          <a:bodyPr/>
          <a:p>
            <a:pPr lvl="0">
              <a:defRPr/>
            </a:pPr>
            <a:r>
              <a:rPr lang="ko-KR" altLang="en-US"/>
              <a:t>링킹 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6992" y="1381435"/>
            <a:ext cx="10978017" cy="43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4087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36192" y="5059053"/>
            <a:ext cx="11091984" cy="1379472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p>
            <a:pPr lvl="0">
              <a:defRPr/>
            </a:pPr>
            <a:r>
              <a:rPr lang="ko-KR" altLang="en-US" sz="2200"/>
              <a:t>심볼 테이블</a:t>
            </a:r>
            <a:endParaRPr lang="ko-KR" altLang="en-US" sz="2200"/>
          </a:p>
          <a:p>
            <a:pPr lvl="1">
              <a:defRPr/>
            </a:pPr>
            <a:r>
              <a:rPr lang="en-US" altLang="ko-KR" sz="2200"/>
              <a:t>add</a:t>
            </a:r>
            <a:r>
              <a:rPr lang="ko-KR" altLang="en-US" sz="2200"/>
              <a:t>는 해결됨</a:t>
            </a:r>
            <a:endParaRPr lang="ko-KR" altLang="en-US" sz="2200"/>
          </a:p>
          <a:p>
            <a:pPr lvl="1">
              <a:defRPr/>
            </a:pPr>
            <a:r>
              <a:rPr lang="ko-KR" altLang="en-US" sz="2200"/>
              <a:t> </a:t>
            </a:r>
            <a:r>
              <a:rPr lang="en-US" altLang="ko-KR" sz="2200"/>
              <a:t>printf</a:t>
            </a:r>
            <a:r>
              <a:rPr lang="ko-KR" altLang="en-US" sz="2200"/>
              <a:t>는 동적링킹이라 아직 </a:t>
            </a:r>
            <a:r>
              <a:rPr lang="en-US" altLang="ko-KR" sz="2200"/>
              <a:t>UND(undefined)</a:t>
            </a:r>
            <a:r>
              <a:rPr lang="ko-KR" altLang="en-US" sz="2200"/>
              <a:t> </a:t>
            </a:r>
            <a:r>
              <a:rPr lang="en-US" altLang="ko-KR" sz="2200"/>
              <a:t>-&gt; </a:t>
            </a:r>
            <a:r>
              <a:rPr lang="ko-KR" altLang="en-US" sz="2200"/>
              <a:t>실행할때 링크됨</a:t>
            </a:r>
            <a:endParaRPr lang="ko-KR" altLang="en-US" sz="2200"/>
          </a:p>
          <a:p>
            <a:pPr lvl="0">
              <a:defRPr/>
            </a:pPr>
            <a:endParaRPr lang="ko-KR" altLang="en-US" sz="2200"/>
          </a:p>
        </p:txBody>
      </p:sp>
      <p:sp>
        <p:nvSpPr>
          <p:cNvPr id="16" name="제목 1"/>
          <p:cNvSpPr>
            <a:spLocks noGrp="1"/>
          </p:cNvSpPr>
          <p:nvPr>
            <p:ph type="title" idx="0"/>
          </p:nvPr>
        </p:nvSpPr>
        <p:spPr>
          <a:xfrm>
            <a:off x="609599" y="274637"/>
            <a:ext cx="10972798" cy="766021"/>
          </a:xfrm>
        </p:spPr>
        <p:txBody>
          <a:bodyPr>
            <a:noAutofit/>
          </a:bodyPr>
          <a:p>
            <a:pPr marL="457200" lvl="1" indent="0">
              <a:buNone/>
              <a:tabLst>
                <a:tab pos="5650423" algn="l"/>
              </a:tabLst>
              <a:defRPr/>
            </a:pPr>
            <a:r>
              <a:rPr lang="en-US" altLang="ko-KR" sz="2300" b="1">
                <a:latin typeface="맑은 고딕"/>
                <a:ea typeface="맑은 고딕"/>
                <a:cs typeface="Arial"/>
              </a:rPr>
              <a:t>1.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 다른 파일에 정의된 함수/변수를 아직 찾지 못함(nudefined symbol)</a:t>
            </a:r>
            <a:endParaRPr lang="ko-KR" altLang="en-US" sz="2300" b="1">
              <a:latin typeface="맑은 고딕"/>
              <a:ea typeface="맑은 고딕"/>
              <a:cs typeface="Arial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40819" y="4091281"/>
            <a:ext cx="10110362" cy="34863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88506" y="4439914"/>
            <a:ext cx="10214988" cy="339744"/>
          </a:xfrm>
          <a:prstGeom prst="rect">
            <a:avLst/>
          </a:prstGeom>
        </p:spPr>
      </p:pic>
      <p:grpSp>
        <p:nvGrpSpPr>
          <p:cNvPr id="20" name="그룹 19"/>
          <p:cNvGrpSpPr/>
          <p:nvPr/>
        </p:nvGrpSpPr>
        <p:grpSpPr>
          <a:xfrm rot="0">
            <a:off x="1210756" y="1040659"/>
            <a:ext cx="9940424" cy="2640695"/>
            <a:chOff x="486603" y="324554"/>
            <a:chExt cx="8738428" cy="2640695"/>
          </a:xfrm>
        </p:grpSpPr>
        <p:pic>
          <p:nvPicPr>
            <p:cNvPr id="21" name="그림 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486603" y="324554"/>
              <a:ext cx="8738429" cy="2640695"/>
            </a:xfrm>
            <a:prstGeom prst="rect">
              <a:avLst/>
            </a:prstGeom>
          </p:spPr>
        </p:pic>
        <p:sp>
          <p:nvSpPr>
            <p:cNvPr id="22" name="직사각형 9"/>
            <p:cNvSpPr/>
            <p:nvPr/>
          </p:nvSpPr>
          <p:spPr>
            <a:xfrm>
              <a:off x="1076535" y="2232003"/>
              <a:ext cx="7558565" cy="73324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5892772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/>
          <p:cNvSpPr/>
          <p:nvPr/>
        </p:nvSpPr>
        <p:spPr>
          <a:xfrm>
            <a:off x="323849" y="5390409"/>
            <a:ext cx="11504734" cy="12842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>
            <a:noAutofit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정적으로만 링크된 프로그램이 아니기 때문에 새로운 종류의 재배치가 생김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=&gt;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때문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엥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정적으로 링킹하자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종류 불확실성 때문에 생기는 재배치는 남아있음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 idx="0"/>
          </p:nvPr>
        </p:nvSpPr>
        <p:spPr>
          <a:xfrm>
            <a:off x="323849" y="274637"/>
            <a:ext cx="11258548" cy="766021"/>
          </a:xfrm>
        </p:spPr>
        <p:txBody>
          <a:bodyPr>
            <a:noAutofit/>
          </a:bodyPr>
          <a:p>
            <a:pPr marL="457200" lvl="1" indent="0">
              <a:buNone/>
              <a:tabLst>
                <a:tab pos="5650423" algn="l"/>
              </a:tabLst>
              <a:defRPr/>
            </a:pPr>
            <a:r>
              <a:rPr lang="en-US" altLang="ko-KR" sz="2300" b="1">
                <a:latin typeface="맑은 고딕"/>
                <a:ea typeface="맑은 고딕"/>
                <a:cs typeface="Arial"/>
              </a:rPr>
              <a:t>2.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실제 메모리 주소가 아직 정해지지 않음(링커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가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 나중에 채워 넣을 자리만 있음)</a:t>
            </a:r>
            <a:endParaRPr lang="en-US" altLang="ko-KR" sz="2300" b="1">
              <a:latin typeface="맑은 고딕"/>
              <a:ea typeface="맑은 고딕"/>
              <a:cs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1920" y="1650380"/>
            <a:ext cx="10662406" cy="3557239"/>
          </a:xfrm>
          <a:prstGeom prst="rect">
            <a:avLst/>
          </a:prstGeom>
        </p:spPr>
      </p:pic>
      <p:sp>
        <p:nvSpPr>
          <p:cNvPr id="20" name="내용 개체 틀 2"/>
          <p:cNvSpPr/>
          <p:nvPr/>
        </p:nvSpPr>
        <p:spPr>
          <a:xfrm>
            <a:off x="559531" y="1193059"/>
            <a:ext cx="11091984" cy="4745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링킹 이후 재배치 항목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097959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519326" y="2539763"/>
            <a:ext cx="7609880" cy="296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90751" y="3082688"/>
            <a:ext cx="7609880" cy="296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90751" y="3911363"/>
            <a:ext cx="7609880" cy="296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=</a:t>
            </a:r>
            <a:endParaRPr lang="en-US" altLang="ko-KR"/>
          </a:p>
        </p:txBody>
      </p:sp>
      <p:sp>
        <p:nvSpPr>
          <p:cNvPr id="21" name="내용 개체 틀 2"/>
          <p:cNvSpPr/>
          <p:nvPr/>
        </p:nvSpPr>
        <p:spPr>
          <a:xfrm>
            <a:off x="281201" y="264527"/>
            <a:ext cx="11091984" cy="8079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>
            <a:normAutofit lnSpcReduction="10000"/>
          </a:bodyPr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디스어셈블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lvl="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랑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랑 </a:t>
            </a:r>
            <a:r>
              <a:rPr xmlns:mc="http://schemas.openxmlformats.org/markup-compatibility/2006" xmlns:hp="http://schemas.haansoft.com/office/presentation/8.0" kumimoji="0" lang="en-US" altLang="ko-KR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rodata</a:t>
            </a:r>
            <a:r>
              <a: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값이 들어간걸 확인 가능 </a:t>
            </a:r>
            <a:endParaRPr xmlns:mc="http://schemas.openxmlformats.org/markup-compatibility/2006" xmlns:hp="http://schemas.haansoft.com/office/presentation/8.0" kumimoji="0" lang="ko-KR" altLang="en-US" sz="22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574" y="1167750"/>
            <a:ext cx="12034851" cy="3829875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281201" y="2730263"/>
            <a:ext cx="7609880" cy="296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33601" y="3235088"/>
            <a:ext cx="7609880" cy="296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33601" y="3978038"/>
            <a:ext cx="7609880" cy="296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92485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 idx="0"/>
          </p:nvPr>
        </p:nvSpPr>
        <p:spPr>
          <a:xfrm>
            <a:off x="609599" y="274637"/>
            <a:ext cx="10972798" cy="766021"/>
          </a:xfrm>
        </p:spPr>
        <p:txBody>
          <a:bodyPr>
            <a:noAutofit/>
          </a:bodyPr>
          <a:p>
            <a:pPr marL="457200" lvl="1" indent="0">
              <a:buNone/>
              <a:tabLst>
                <a:tab pos="5650423" algn="l"/>
              </a:tabLst>
              <a:defRPr/>
            </a:pPr>
            <a:r>
              <a:rPr lang="en-US" altLang="ko-KR" sz="2300" b="1">
                <a:latin typeface="맑은 고딕"/>
                <a:ea typeface="맑은 고딕"/>
                <a:cs typeface="Arial"/>
              </a:rPr>
              <a:t>3.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 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OS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가 메모리에 어떻게 적재해야 할지 알려주는 정보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(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프로그램 헤더</a:t>
            </a:r>
            <a:r>
              <a:rPr lang="en-US" altLang="ko-KR" sz="2300" b="1">
                <a:latin typeface="맑은 고딕"/>
                <a:ea typeface="맑은 고딕"/>
                <a:cs typeface="Arial"/>
              </a:rPr>
              <a:t>)</a:t>
            </a:r>
            <a:r>
              <a:rPr lang="ko-KR" altLang="en-US" sz="2300" b="1">
                <a:latin typeface="맑은 고딕"/>
                <a:ea typeface="맑은 고딕"/>
                <a:cs typeface="Arial"/>
              </a:rPr>
              <a:t>가 없음</a:t>
            </a:r>
            <a:br>
              <a:rPr lang="ko-KR" altLang="en-US" sz="2300" b="1">
                <a:ea typeface="맑은 고딕"/>
                <a:cs typeface="Arial"/>
              </a:rPr>
            </a:br>
            <a:endParaRPr lang="ko-KR" altLang="en-US" sz="2300" b="1">
              <a:latin typeface="맑은 고딕"/>
              <a:ea typeface="맑은 고딕"/>
              <a:cs typeface="Arial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5430" y="1717437"/>
            <a:ext cx="5349615" cy="66044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636163" y="1606312"/>
            <a:ext cx="6365335" cy="3732073"/>
          </a:xfrm>
          <a:prstGeom prst="rect">
            <a:avLst/>
          </a:prstGeom>
        </p:spPr>
      </p:pic>
      <p:sp>
        <p:nvSpPr>
          <p:cNvPr id="14" name="왼쪽 화살표 13"/>
          <p:cNvSpPr/>
          <p:nvPr/>
        </p:nvSpPr>
        <p:spPr>
          <a:xfrm rot="10632360">
            <a:off x="2651487" y="2428875"/>
            <a:ext cx="2317749" cy="200024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가로 글상자 14"/>
          <p:cNvSpPr txBox="1"/>
          <p:nvPr/>
        </p:nvSpPr>
        <p:spPr>
          <a:xfrm>
            <a:off x="0" y="5338386"/>
            <a:ext cx="7806690" cy="118433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목적파일의 섹션 -&gt; 링커를 위한 정보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실행 파일의 세그먼트 -&gt; 로더/OS를 위한 정보 (링커가 섹션들을 묶어서 만듦)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execve 시스템 콜이 이 프로그램 헤더를 읽어서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각 세그먼트를 정해진 메모리 영역에, 정해진 권한으로 매핑함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746757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감사합니다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2171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514</ep:Words>
  <ep:PresentationFormat>화면 슬라이드 쇼(4:3)</ep:PresentationFormat>
  <ep:Paragraphs>120</ep:Paragraphs>
  <ep:Slides>21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한컴오피스</vt:lpstr>
      <vt:lpstr>목적 파일과 실행 파일</vt:lpstr>
      <vt:lpstr>목차</vt:lpstr>
      <vt:lpstr>주제 선정 이유</vt:lpstr>
      <vt:lpstr>1. 컴파일 파이프라인</vt:lpstr>
      <vt:lpstr>2. ELF?</vt:lpstr>
      <vt:lpstr>3. 목적 파일(.o)이란?</vt:lpstr>
      <vt:lpstr>3. 목적 파일(.o)이란?</vt:lpstr>
      <vt:lpstr>4. 링킹 과정 (목적 파일 -&gt; 실행 파일)</vt:lpstr>
      <vt:lpstr>4. 링킹 과정 (목적 파일 -&gt; 실행 파일)</vt:lpstr>
      <vt:lpstr>5. 실행파일이란?</vt:lpstr>
      <vt:lpstr>만든 파일</vt:lpstr>
      <vt:lpstr>1. 다른 파일에 정의된 함수/변수를 아직 찾지 못함(nudefined symbol)</vt:lpstr>
      <vt:lpstr>2. 실제 메모리 주소가 아직 정해지지 않음(링커가 나중에 채워 넣을 자리만 있음)</vt:lpstr>
      <vt:lpstr>슬라이드 14</vt:lpstr>
      <vt:lpstr>3. OS가 메모리에 어떻게 적재해야 할지 알려주는 정보(프로그램 헤더)가 없음</vt:lpstr>
      <vt:lpstr>링킹</vt:lpstr>
      <vt:lpstr>1. 다른 파일에 정의된 함수/변수를 아직 찾지 못함(nudefined symbol)</vt:lpstr>
      <vt:lpstr>2. 실제 메모리 주소가 아직 정해지지 않음(링커가 나중에 채워 넣을 자리만 있음)</vt:lpstr>
      <vt:lpstr>슬라이드 19</vt:lpstr>
      <vt:lpstr>3. OS가 메모리에 어떻게 적재해야 할지 알려주는 정보(프로그램 헤더)가 없음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2026-08-04T02:25:36.614</dcterms:created>
  <dc:creator>Kimda</dc:creator>
  <cp:lastModifiedBy>Kimda</cp:lastModifiedBy>
  <dcterms:modified xsi:type="dcterms:W3CDTF">2026-08-11T06:59:48.355</dcterms:modified>
  <cp:revision>69</cp:revision>
  <cp:version>13.0.0.3050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