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media1.mp4" ContentType="video/mp4"/>
  <Override PartName="/ppt/media/media2.mp4" ContentType="video/mp4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2" r:id="rId8"/>
    <p:sldId id="261" r:id="rId9"/>
    <p:sldId id="264" r:id="rId10"/>
    <p:sldId id="266" r:id="rId11"/>
    <p:sldId id="268" r:id="rId12"/>
    <p:sldId id="267" r:id="rId13"/>
    <p:sldId id="270" r:id="rId14"/>
    <p:sldId id="272" r:id="rId15"/>
    <p:sldId id="271" r:id="rId16"/>
    <p:sldId id="265" r:id="rId17"/>
    <p:sldId id="269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58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3"/>
        <p:guide pos="383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presProps" Target="presProps.xml"  /><Relationship Id="rId2" Type="http://schemas.openxmlformats.org/officeDocument/2006/relationships/notesMaster" Target="notesMasters/notesMaster1.xml"  /><Relationship Id="rId20" Type="http://schemas.openxmlformats.org/officeDocument/2006/relationships/viewProps" Target="viewProps.xml"  /><Relationship Id="rId21" Type="http://schemas.openxmlformats.org/officeDocument/2006/relationships/theme" Target="theme/theme1.xml"  /><Relationship Id="rId22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/>
              <a:t>2009-03-26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7433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271638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021435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video" Target="../media/media1.mp4"  /><Relationship Id="rId3" Type="http://schemas.microsoft.com/office/2007/relationships/media" Target="../media/media1.mp4"  /><Relationship Id="rId4" Type="http://schemas.openxmlformats.org/officeDocument/2006/relationships/image" Target="../media/image3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video" Target="../media/media2.mp4"  /><Relationship Id="rId3" Type="http://schemas.microsoft.com/office/2007/relationships/media" Target="../media/media2.mp4"  /><Relationship Id="rId4" Type="http://schemas.openxmlformats.org/officeDocument/2006/relationships/image" Target="../media/image8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pygame</a:t>
            </a:r>
            <a:r>
              <a:rPr lang="ko-KR" altLang="en-US"/>
              <a:t> 기본</a:t>
            </a:r>
            <a:r>
              <a:rPr lang="en-US" altLang="ko-KR"/>
              <a:t> </a:t>
            </a:r>
            <a:r>
              <a:rPr lang="ko-KR" altLang="en-US"/>
              <a:t>물리연산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20261001 | </a:t>
            </a:r>
            <a:r>
              <a:rPr lang="en-US" altLang="ko-KR"/>
              <a:t>pygame</a:t>
            </a:r>
            <a:r>
              <a:rPr lang="ko-KR" altLang="en-US"/>
              <a:t>물리연산 | 정민주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800548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목차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주제 선정 이유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게임 물리 핵심 요소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파이게임 기본 함수 설명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실습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2</a:t>
            </a:r>
            <a:r>
              <a:rPr lang="ko-KR" altLang="en-US"/>
              <a:t>차 실습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마무리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368074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주제 선정 이유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게임을 만들때 게임 물리엔진을 사용하는 것은 필수인데 아직 개념이나 활용력이 부족하다 생각</a:t>
            </a:r>
            <a:endParaRPr lang="ko-KR" altLang="en-US"/>
          </a:p>
          <a:p>
            <a:pPr lvl="0">
              <a:defRPr/>
            </a:pPr>
            <a:r>
              <a:rPr lang="ko-KR" altLang="en-US" b="1"/>
              <a:t>물리연산을 이해하는것</a:t>
            </a:r>
            <a:r>
              <a:rPr lang="ko-KR" altLang="en-US"/>
              <a:t>이 최종목적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코드에 익숙해져 여러 다트 등 여러 곳에 사용해보기 위해서 이 주제를 선정</a:t>
            </a:r>
            <a:endParaRPr lang="en-US" altLang="ko-KR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811594" y="4066619"/>
            <a:ext cx="2433511" cy="279138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245105" y="4017779"/>
            <a:ext cx="2864290" cy="284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011975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600" y="2286000"/>
            <a:ext cx="10972798" cy="1143000"/>
          </a:xfrm>
        </p:spPr>
        <p:txBody>
          <a:bodyPr/>
          <a:p>
            <a:pPr lvl="0">
              <a:defRPr/>
            </a:pPr>
            <a:r>
              <a:rPr lang="ko-KR" altLang="en-US"/>
              <a:t>게임 물리 핵심 요소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4997" y="3629353"/>
            <a:ext cx="3459544" cy="4525963"/>
          </a:xfrm>
        </p:spPr>
        <p:txBody>
          <a:bodyPr/>
          <a:p>
            <a:pPr marL="0" lvl="0" indent="0" algn="ctr">
              <a:buNone/>
              <a:defRPr/>
            </a:pPr>
            <a:r>
              <a:rPr lang="en-US" altLang="ko-KR" b="1"/>
              <a:t>1.</a:t>
            </a:r>
            <a:r>
              <a:rPr lang="ko-KR" altLang="en-US" b="1"/>
              <a:t> 위치와 속도 </a:t>
            </a:r>
            <a:endParaRPr lang="ko-KR" altLang="en-US" b="1"/>
          </a:p>
          <a:p>
            <a:pPr marL="0" lvl="0" indent="0" algn="ctr">
              <a:buNone/>
              <a:defRPr/>
            </a:pPr>
            <a:r>
              <a:rPr lang="ko-KR" altLang="en-US" sz="2400" b="0"/>
              <a:t>좌표계 주목</a:t>
            </a:r>
            <a:r>
              <a:rPr lang="en-US" altLang="ko-KR" sz="2400" b="0"/>
              <a:t>!</a:t>
            </a:r>
            <a:endParaRPr lang="en-US" altLang="ko-KR" sz="2400" b="0"/>
          </a:p>
        </p:txBody>
      </p:sp>
      <p:sp>
        <p:nvSpPr>
          <p:cNvPr id="5" name="내용 개체 틀 2"/>
          <p:cNvSpPr/>
          <p:nvPr/>
        </p:nvSpPr>
        <p:spPr>
          <a:xfrm>
            <a:off x="4465935" y="3629353"/>
            <a:ext cx="3459544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중력과 가속도</a:t>
            </a:r>
            <a:endPara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내용 개체 틀 2"/>
          <p:cNvSpPr/>
          <p:nvPr/>
        </p:nvSpPr>
        <p:spPr>
          <a:xfrm>
            <a:off x="8122854" y="3629353"/>
            <a:ext cx="3459544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</a:t>
            </a:r>
            <a:r>
              <a: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충돌과 반사</a:t>
            </a:r>
            <a:endParaRPr xmlns:mc="http://schemas.openxmlformats.org/markup-compatibility/2006" xmlns:hp="http://schemas.haansoft.com/office/presentation/8.0" kumimoji="0" lang="ko-KR" altLang="en-US" sz="3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3540580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>
            <a:normAutofit fontScale="90000"/>
          </a:bodyPr>
          <a:p>
            <a:pPr lvl="0">
              <a:defRPr/>
            </a:pPr>
            <a:r>
              <a:rPr lang="ko-KR" altLang="en-US"/>
              <a:t>객체 상태 정의하기</a:t>
            </a:r>
            <a:br>
              <a:rPr lang="ko-KR" altLang="en-US"/>
            </a:br>
            <a:r>
              <a:rPr lang="ko-KR" altLang="en-US" sz="2800"/>
              <a:t>위치와 속도</a:t>
            </a:r>
            <a:endParaRPr lang="ko-KR" altLang="en-US" sz="28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marL="0" lvl="0" indent="0">
              <a:buNone/>
              <a:defRPr/>
            </a:pPr>
            <a:endParaRPr lang="ko-KR" altLang="en-US" sz="2500"/>
          </a:p>
          <a:p>
            <a:pPr lvl="0">
              <a:defRPr/>
            </a:pPr>
            <a:r>
              <a:rPr lang="ko-KR" altLang="en-US" sz="2500"/>
              <a:t>pygame.image.load(경로) : 이미지 파일을 객체로 불러옴</a:t>
            </a:r>
            <a:endParaRPr lang="ko-KR" altLang="en-US" sz="2500"/>
          </a:p>
          <a:p>
            <a:pPr lvl="0">
              <a:defRPr/>
            </a:pPr>
            <a:r>
              <a:rPr lang="ko-KR" altLang="en-US" sz="2500"/>
              <a:t>Surface.get_rect() : 이미지의 위치와 크기 정보를 담은 좌표  히트박스생성</a:t>
            </a:r>
            <a:endParaRPr lang="ko-KR" altLang="en-US" sz="2500"/>
          </a:p>
          <a:p>
            <a:pPr lvl="0">
              <a:defRPr/>
            </a:pPr>
            <a:r>
              <a:rPr lang="ko-KR" altLang="en-US" sz="2500"/>
              <a:t>pygame.time.Clock(속도) : 프레임 속도를 제어하기 위한 시계 객체 생성</a:t>
            </a:r>
            <a:endParaRPr lang="ko-KR" altLang="en-US" sz="2500"/>
          </a:p>
        </p:txBody>
      </p:sp>
    </p:spTree>
    <p:extLst>
      <p:ext uri="{BB962C8B-B14F-4D97-AF65-F5344CB8AC3E}">
        <p14:creationId xmlns:p14="http://schemas.microsoft.com/office/powerpoint/2010/main" val="1719468346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중력 가속도와 바닥 바운스</a:t>
            </a:r>
            <a:br>
              <a:rPr lang="ko-KR" altLang="en-US"/>
            </a:br>
            <a:r>
              <a:rPr lang="ko-KR" altLang="en-US" sz="2800"/>
              <a:t>중력과 가속도</a:t>
            </a:r>
            <a:endParaRPr lang="ko-KR" altLang="en-US" sz="28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 sz="2500"/>
              <a:t>등가속도 운동 : v = v₀ + at → 매 프레임 속도 += 가속도</a:t>
            </a:r>
            <a:endParaRPr lang="ko-KR" altLang="en-US" sz="2500"/>
          </a:p>
          <a:p>
            <a:pPr lvl="0">
              <a:defRPr/>
            </a:pPr>
            <a:r>
              <a:rPr lang="ko-KR" altLang="en-US" sz="2500"/>
              <a:t>위치 갱신 : x = x₀ + vt → 매 프레임 위치 += 속도</a:t>
            </a:r>
            <a:endParaRPr lang="ko-KR" altLang="en-US" sz="2500"/>
          </a:p>
          <a:p>
            <a:pPr lvl="0">
              <a:defRPr/>
            </a:pPr>
            <a:r>
              <a:rPr lang="ko-KR" altLang="en-US" sz="2500"/>
              <a:t>바닥 판정 : y &gt;= 화면 높이 − 객체 높이</a:t>
            </a:r>
            <a:endParaRPr lang="ko-KR" altLang="en-US" sz="2500"/>
          </a:p>
          <a:p>
            <a:pPr marL="0" lvl="0" indent="0">
              <a:buNone/>
              <a:defRPr/>
            </a:pPr>
            <a:endParaRPr lang="ko-KR" altLang="en-US" sz="2500"/>
          </a:p>
        </p:txBody>
      </p:sp>
    </p:spTree>
    <p:extLst>
      <p:ext uri="{BB962C8B-B14F-4D97-AF65-F5344CB8AC3E}">
        <p14:creationId xmlns:p14="http://schemas.microsoft.com/office/powerpoint/2010/main" val="3377256163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수평 이동과 벽면 반사</a:t>
            </a:r>
            <a:br>
              <a:rPr lang="ko-KR" altLang="en-US"/>
            </a:br>
            <a:r>
              <a:rPr lang="ko-KR" altLang="en-US" sz="2800"/>
              <a:t>충돌과 반사</a:t>
            </a:r>
            <a:endParaRPr lang="ko-KR" altLang="en-US" sz="28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600200"/>
            <a:ext cx="10972798" cy="2262981"/>
          </a:xfrm>
        </p:spPr>
        <p:txBody>
          <a:bodyPr/>
          <a:p>
            <a:pPr lvl="0">
              <a:defRPr/>
            </a:pPr>
            <a:r>
              <a:rPr lang="ko-KR" altLang="en-US" sz="2500"/>
              <a:t>Surface.get_rect().size : 이미지 정보를 튜플로 반환</a:t>
            </a:r>
            <a:endParaRPr lang="ko-KR" altLang="en-US" sz="2500"/>
          </a:p>
          <a:p>
            <a:pPr lvl="0">
              <a:defRPr/>
            </a:pPr>
            <a:r>
              <a:rPr lang="ko-KR" altLang="en-US" sz="2500"/>
              <a:t>Rect 속성(left, right, top, bottom) : 객체 경계의 좌표를 바로 확인</a:t>
            </a:r>
            <a:endParaRPr lang="ko-KR" altLang="en-US" sz="2500"/>
          </a:p>
          <a:p>
            <a:pPr lvl="0">
              <a:defRPr/>
            </a:pPr>
            <a:r>
              <a:rPr lang="ko-KR" altLang="en-US" sz="2500"/>
              <a:t>Rect.colliderect(다른 Rect) : 두 사각형이 겹쳤는지 True/False로 판정</a:t>
            </a:r>
            <a:endParaRPr lang="ko-KR" altLang="en-US" sz="2500"/>
          </a:p>
          <a:p>
            <a:pPr lvl="0">
              <a:defRPr/>
            </a:pPr>
            <a:r>
              <a:rPr lang="ko-KR" altLang="en-US" sz="2500"/>
              <a:t>반사 처리 : 속도 = 속도 * -1 → 크기는 그대로, 방향만 반전 </a:t>
            </a:r>
            <a:endParaRPr lang="ko-KR" altLang="en-US" sz="2500"/>
          </a:p>
        </p:txBody>
      </p:sp>
    </p:spTree>
    <p:extLst>
      <p:ext uri="{BB962C8B-B14F-4D97-AF65-F5344CB8AC3E}">
        <p14:creationId xmlns:p14="http://schemas.microsoft.com/office/powerpoint/2010/main" val="3951142715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874597" y="3042036"/>
            <a:ext cx="10972798" cy="1143000"/>
          </a:xfrm>
        </p:spPr>
        <p:txBody>
          <a:bodyPr/>
          <a:p>
            <a:pPr lvl="0" algn="l">
              <a:defRPr/>
            </a:pPr>
            <a:r>
              <a:rPr lang="ko-KR" altLang="en-US"/>
              <a:t>실습</a:t>
            </a:r>
            <a:endParaRPr lang="ko-KR" altLang="en-US"/>
          </a:p>
        </p:txBody>
      </p:sp>
      <p:pic>
        <p:nvPicPr>
          <p:cNvPr id="4" name="20260929-0530-48.1058012.mp4">
            <a:hlinkClick r:id="" action="ppaction://media"/>
          </p:cNvPr>
          <p:cNvPicPr>
            <a:picLocks noRot="1"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 rotWithShape="1">
          <a:blip r:embed="rId4"/>
          <a:srcRect t="4000"/>
          <a:stretch>
            <a:fillRect/>
          </a:stretch>
        </p:blipFill>
        <p:spPr>
          <a:xfrm>
            <a:off x="3428891" y="0"/>
            <a:ext cx="8418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082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/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55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0382630" cy="68580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 algn="r">
              <a:defRPr/>
            </a:pPr>
            <a:r>
              <a:rPr lang="ko-KR" altLang="en-US">
                <a:solidFill>
                  <a:schemeClr val="lt1"/>
                </a:solidFill>
              </a:rPr>
              <a:t>전체 코드 </a:t>
            </a:r>
            <a:r>
              <a:rPr lang="ko-KR" altLang="en-US"/>
              <a:t>분석</a:t>
            </a:r>
            <a:endParaRPr lang="ko-KR" altLang="en-US"/>
          </a:p>
        </p:txBody>
      </p:sp>
      <p:sp>
        <p:nvSpPr>
          <p:cNvPr id="7" name="가로 글상자 6"/>
          <p:cNvSpPr txBox="1"/>
          <p:nvPr/>
        </p:nvSpPr>
        <p:spPr>
          <a:xfrm>
            <a:off x="7851392" y="3942280"/>
            <a:ext cx="2823862" cy="640353"/>
          </a:xfrm>
          <a:prstGeom prst="rect">
            <a:avLst/>
          </a:prstGeom>
          <a:solidFill>
            <a:srgbClr val="a6a6a6"/>
          </a:solidFill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물리 연산에 필요한 모든 변수를 하나로 묶어 관리</a:t>
            </a:r>
            <a:endParaRPr lang="ko-KR" altLang="en-US"/>
          </a:p>
        </p:txBody>
      </p:sp>
      <p:sp>
        <p:nvSpPr>
          <p:cNvPr id="11" name="가로 글상자 10"/>
          <p:cNvSpPr txBox="1"/>
          <p:nvPr/>
        </p:nvSpPr>
        <p:spPr>
          <a:xfrm>
            <a:off x="3991463" y="5572125"/>
            <a:ext cx="3186339" cy="636270"/>
          </a:xfrm>
          <a:prstGeom prst="rect">
            <a:avLst/>
          </a:prstGeom>
          <a:solidFill>
            <a:srgbClr val="a6a6a6"/>
          </a:solidFill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 Y축은 위로 올라갈수록 값이 작아지기 때문에 음수</a:t>
            </a:r>
            <a:endParaRPr lang="ko-KR" altLang="en-US"/>
          </a:p>
        </p:txBody>
      </p:sp>
      <p:cxnSp>
        <p:nvCxnSpPr>
          <p:cNvPr id="12" name="구부러진 화살표 연결선 11"/>
          <p:cNvCxnSpPr>
            <a:stCxn id="11" idx="1"/>
          </p:cNvCxnSpPr>
          <p:nvPr/>
        </p:nvCxnSpPr>
        <p:spPr>
          <a:xfrm rot="10800000" flipV="1">
            <a:off x="3238500" y="5890260"/>
            <a:ext cx="752963" cy="441597"/>
          </a:xfrm>
          <a:prstGeom prst="curved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구부러진 화살표 연결선 12"/>
          <p:cNvCxnSpPr>
            <a:stCxn id="7" idx="1"/>
          </p:cNvCxnSpPr>
          <p:nvPr/>
        </p:nvCxnSpPr>
        <p:spPr>
          <a:xfrm rot="10800000" flipV="1">
            <a:off x="1753053" y="4262457"/>
            <a:ext cx="6098338" cy="368506"/>
          </a:xfrm>
          <a:prstGeom prst="curved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8092891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-30838"/>
            <a:ext cx="7486784" cy="6888838"/>
          </a:xfrm>
          <a:prstGeom prst="rect">
            <a:avLst/>
          </a:prstGeom>
        </p:spPr>
      </p:pic>
      <p:sp>
        <p:nvSpPr>
          <p:cNvPr id="5" name="가로 글상자 4"/>
          <p:cNvSpPr txBox="1"/>
          <p:nvPr/>
        </p:nvSpPr>
        <p:spPr>
          <a:xfrm>
            <a:off x="7928919" y="3429000"/>
            <a:ext cx="3668412" cy="145542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벽 충돌 했을 때 </a:t>
            </a:r>
            <a:r>
              <a:rPr lang="en-US" altLang="ko-KR"/>
              <a:t>:</a:t>
            </a:r>
            <a:r>
              <a:rPr lang="ko-KR" altLang="en-US"/>
              <a:t> 좌표 &lt; 0 또는 좌표 &gt; 화면 너비 − 객체 너비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객체의 오른쪽 끝을 기준으로 해야 하므로 너비를 함께 빼줌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656697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20980"/>
          <a:stretch>
            <a:fillRect/>
          </a:stretch>
        </p:blipFill>
        <p:spPr>
          <a:xfrm>
            <a:off x="0" y="0"/>
            <a:ext cx="12192000" cy="2226344"/>
          </a:xfrm>
          <a:prstGeom prst="rect">
            <a:avLst/>
          </a:prstGeom>
        </p:spPr>
      </p:pic>
      <p:sp>
        <p:nvSpPr>
          <p:cNvPr id="5" name="가로 글상자 4"/>
          <p:cNvSpPr txBox="1"/>
          <p:nvPr/>
        </p:nvSpPr>
        <p:spPr>
          <a:xfrm>
            <a:off x="522586" y="2437884"/>
            <a:ext cx="10606218" cy="84633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500"/>
              <a:t>한번 바운스 할 때 마다 : 이벤트 처리 </a:t>
            </a:r>
            <a:r>
              <a:rPr lang="en-US" altLang="ko-KR" sz="2500"/>
              <a:t>-&gt;</a:t>
            </a:r>
            <a:r>
              <a:rPr lang="ko-KR" altLang="en-US" sz="2500"/>
              <a:t> 충돌 판정 </a:t>
            </a:r>
            <a:r>
              <a:rPr lang="en-US" altLang="ko-KR" sz="2500"/>
              <a:t>-&gt;</a:t>
            </a:r>
            <a:r>
              <a:rPr lang="ko-KR" altLang="en-US" sz="2500"/>
              <a:t> 속도와 위치 갱신 </a:t>
            </a:r>
            <a:r>
              <a:rPr lang="en-US" altLang="ko-KR" sz="2500"/>
              <a:t>-&gt;</a:t>
            </a:r>
            <a:r>
              <a:rPr lang="ko-KR" altLang="en-US" sz="2500"/>
              <a:t> blit </a:t>
            </a:r>
            <a:r>
              <a:rPr lang="en-US" altLang="ko-KR" sz="2500"/>
              <a:t>-&gt;</a:t>
            </a:r>
            <a:r>
              <a:rPr lang="ko-KR" altLang="en-US" sz="2500"/>
              <a:t> update</a:t>
            </a:r>
            <a:endParaRPr lang="ko-KR" altLang="en-US" sz="2500"/>
          </a:p>
        </p:txBody>
      </p:sp>
    </p:spTree>
    <p:extLst>
      <p:ext uri="{BB962C8B-B14F-4D97-AF65-F5344CB8AC3E}">
        <p14:creationId xmlns:p14="http://schemas.microsoft.com/office/powerpoint/2010/main" val="1509231254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추가해야할 부분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marL="0" lvl="0" indent="0">
              <a:buNone/>
              <a:defRPr/>
            </a:pPr>
            <a:r>
              <a:rPr lang="ko-KR" altLang="en-US"/>
              <a:t>랩실에서 선배분들이 해주신 조언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/>
              <a:t>:</a:t>
            </a:r>
            <a:r>
              <a:rPr lang="ko-KR" altLang="en-US"/>
              <a:t> 공 높이는 계속 같게 뛰는거야</a:t>
            </a:r>
            <a:r>
              <a:rPr lang="en-US" altLang="ko-KR"/>
              <a:t>?</a:t>
            </a:r>
            <a:endParaRPr lang="en-US" altLang="ko-KR"/>
          </a:p>
          <a:p>
            <a:pPr marL="0" lvl="0" indent="0">
              <a:buNone/>
              <a:defRPr/>
            </a:pPr>
            <a:r>
              <a:rPr lang="en-US" altLang="ko-KR"/>
              <a:t>-&gt;</a:t>
            </a:r>
            <a:r>
              <a:rPr lang="ko-KR" altLang="en-US"/>
              <a:t>  ball["init_spd_y"]를 튕길때마다 </a:t>
            </a:r>
            <a:r>
              <a:rPr lang="en-US" altLang="ko-KR"/>
              <a:t>-18</a:t>
            </a:r>
            <a:r>
              <a:rPr lang="ko-KR" altLang="en-US"/>
              <a:t> </a:t>
            </a:r>
            <a:r>
              <a:rPr lang="en-US" altLang="ko-KR"/>
              <a:t>&gt;</a:t>
            </a: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16</a:t>
            </a:r>
            <a:r>
              <a:rPr lang="ko-KR" altLang="en-US"/>
              <a:t> </a:t>
            </a:r>
            <a:r>
              <a:rPr lang="en-US" altLang="ko-KR"/>
              <a:t>&gt;</a:t>
            </a:r>
            <a:r>
              <a:rPr lang="ko-KR" altLang="en-US"/>
              <a:t> </a:t>
            </a:r>
            <a:r>
              <a:rPr lang="en-US" altLang="ko-KR"/>
              <a:t>-14</a:t>
            </a:r>
            <a:r>
              <a:rPr lang="ko-KR" altLang="en-US"/>
              <a:t>로 늘려주면 해결할 수 있을지도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0003649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 algn="l">
              <a:defRPr/>
            </a:pPr>
            <a:r>
              <a:rPr lang="ko-KR" altLang="en-US"/>
              <a:t>바뀐부분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9" y="1600200"/>
            <a:ext cx="9025580" cy="385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212948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841288" y="3054908"/>
            <a:ext cx="10972798" cy="1143000"/>
          </a:xfrm>
        </p:spPr>
        <p:txBody>
          <a:bodyPr/>
          <a:p>
            <a:pPr lvl="0" algn="l">
              <a:defRPr/>
            </a:pPr>
            <a:r>
              <a:rPr lang="en-US" altLang="ko-KR"/>
              <a:t>2</a:t>
            </a:r>
            <a:r>
              <a:rPr lang="ko-KR" altLang="en-US"/>
              <a:t>차 실습</a:t>
            </a:r>
            <a:endParaRPr lang="ko-KR" altLang="en-US"/>
          </a:p>
        </p:txBody>
      </p:sp>
      <p:pic>
        <p:nvPicPr>
          <p:cNvPr id="4" name="20260929-1633-30.6018392.mp4">
            <a:hlinkClick r:id="" action="ppaction://media"/>
          </p:cNvPr>
          <p:cNvPicPr>
            <a:picLocks noRot="1"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 rotWithShape="1">
          <a:blip r:embed="rId4"/>
          <a:stretch>
            <a:fillRect/>
          </a:stretch>
        </p:blipFill>
        <p:spPr>
          <a:xfrm>
            <a:off x="3538666" y="0"/>
            <a:ext cx="8653334" cy="686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60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/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869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마무리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marL="0" lvl="0" indent="0">
              <a:buNone/>
              <a:defRPr/>
            </a:pPr>
            <a:r>
              <a:rPr lang="ko-KR" altLang="en-US"/>
              <a:t>다음 세미나를 진행 할때는 공이 둥글거나</a:t>
            </a:r>
            <a:r>
              <a:rPr lang="en-US" altLang="ko-KR"/>
              <a:t>,</a:t>
            </a:r>
            <a:r>
              <a:rPr lang="ko-KR" altLang="en-US"/>
              <a:t> 이렇게 바닥 바운스만하지말고 다트처럼 날아가는동안의 중력작용이나</a:t>
            </a:r>
            <a:r>
              <a:rPr lang="en-US" altLang="ko-KR"/>
              <a:t>,</a:t>
            </a:r>
            <a:r>
              <a:rPr lang="ko-KR" altLang="en-US"/>
              <a:t> 서로 충돌하는 작업을 해보고 싶습니다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339123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601" y="2857500"/>
            <a:ext cx="10972798" cy="1143000"/>
          </a:xfrm>
        </p:spPr>
        <p:txBody>
          <a:bodyPr/>
          <a:p>
            <a:pPr lvl="0">
              <a:defRPr/>
            </a:pPr>
            <a:r>
              <a:rPr lang="ko-KR" altLang="en-US"/>
              <a:t>감사합니다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155972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278</ep:Words>
  <ep:PresentationFormat>화면 슬라이드 쇼(4:3)</ep:PresentationFormat>
  <ep:Paragraphs>51</ep:Paragraphs>
  <ep:Slides>16</ep:Slides>
  <ep:Notes>2</ep:Notes>
  <ep:TotalTime>0</ep:TotalTime>
  <ep:HiddenSlides>0</ep:HiddenSlides>
  <ep:MMClips>2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ep:HeadingPairs>
  <ep:TitlesOfParts>
    <vt:vector size="17" baseType="lpstr">
      <vt:lpstr>한컴오피스</vt:lpstr>
      <vt:lpstr>pygame 기본 물리연산</vt:lpstr>
      <vt:lpstr>목차</vt:lpstr>
      <vt:lpstr>주제 선정 이유</vt:lpstr>
      <vt:lpstr>게임 물리 핵심 요소</vt:lpstr>
      <vt:lpstr>객체 상태 정의하기 위치와 속도</vt:lpstr>
      <vt:lpstr>중력 가속도와 바닥 바운스 중력과 가속도</vt:lpstr>
      <vt:lpstr>수평 이동과 벽면 반사 충돌과 반사</vt:lpstr>
      <vt:lpstr>실습</vt:lpstr>
      <vt:lpstr>전체 코드 분석</vt:lpstr>
      <vt:lpstr>슬라이드 10</vt:lpstr>
      <vt:lpstr>슬라이드 11</vt:lpstr>
      <vt:lpstr>추가해야할 부분</vt:lpstr>
      <vt:lpstr>바뀐부분</vt:lpstr>
      <vt:lpstr>2차 실습</vt:lpstr>
      <vt:lpstr>마무리</vt:lpstr>
      <vt:lpstr>감사합니다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2026-09-29T03:57:08.061</dcterms:created>
  <dc:creator>jeongminju</dc:creator>
  <cp:lastModifiedBy>jeongminju</cp:lastModifiedBy>
  <dcterms:modified xsi:type="dcterms:W3CDTF">2026-10-01T08:13:59.517</dcterms:modified>
  <cp:revision>55</cp:revision>
  <cp:version>12.0.0.4204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