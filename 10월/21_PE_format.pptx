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18"/>
  </p:notesMasterIdLst>
  <p:handoutMasterIdLst>
    <p:handoutMasterId r:id="rId19"/>
  </p:handoutMasterIdLst>
  <p:sldIdLst>
    <p:sldId id="256" r:id="rId2"/>
    <p:sldId id="457" r:id="rId3"/>
    <p:sldId id="458" r:id="rId4"/>
    <p:sldId id="463" r:id="rId5"/>
    <p:sldId id="448" r:id="rId6"/>
    <p:sldId id="451" r:id="rId7"/>
    <p:sldId id="460" r:id="rId8"/>
    <p:sldId id="464" r:id="rId9"/>
    <p:sldId id="462" r:id="rId10"/>
    <p:sldId id="461" r:id="rId11"/>
    <p:sldId id="465" r:id="rId12"/>
    <p:sldId id="467" r:id="rId13"/>
    <p:sldId id="468" r:id="rId14"/>
    <p:sldId id="466" r:id="rId15"/>
    <p:sldId id="469" r:id="rId16"/>
    <p:sldId id="287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</p:embeddedFont>
    <p:embeddedFont>
      <p:font typeface="Montserrat Medium" panose="00000600000000000000" pitchFamily="2" charset="0"/>
      <p:regular r:id="rId21"/>
      <p:italic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페이퍼로지 1 Thin" pitchFamily="2" charset="-127"/>
      <p:regular r:id="rId25"/>
    </p:embeddedFont>
    <p:embeddedFont>
      <p:font typeface="페이퍼로지 2 ExtraLight" pitchFamily="2" charset="-127"/>
      <p:regular r:id="rId26"/>
    </p:embeddedFont>
    <p:embeddedFont>
      <p:font typeface="페이퍼로지 3 Light" pitchFamily="2" charset="-127"/>
      <p:regular r:id="rId27"/>
    </p:embeddedFont>
    <p:embeddedFont>
      <p:font typeface="페이퍼로지 4 Regular" pitchFamily="2" charset="-127"/>
      <p:regular r:id="rId28"/>
    </p:embeddedFont>
    <p:embeddedFont>
      <p:font typeface="페이퍼로지 5 Medium" pitchFamily="2" charset="-127"/>
      <p:regular r:id="rId29"/>
    </p:embeddedFont>
    <p:embeddedFont>
      <p:font typeface="페이퍼로지 6 SemiBold" pitchFamily="2" charset="-127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E7DCC256-4942-4A3A-BC96-E5B114D737C5}">
          <p14:sldIdLst>
            <p14:sldId id="256"/>
            <p14:sldId id="457"/>
            <p14:sldId id="458"/>
            <p14:sldId id="463"/>
            <p14:sldId id="448"/>
            <p14:sldId id="451"/>
            <p14:sldId id="460"/>
            <p14:sldId id="464"/>
            <p14:sldId id="462"/>
            <p14:sldId id="461"/>
            <p14:sldId id="465"/>
            <p14:sldId id="467"/>
            <p14:sldId id="468"/>
            <p14:sldId id="466"/>
            <p14:sldId id="469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7F7F7F"/>
    <a:srgbClr val="F79709"/>
    <a:srgbClr val="ECAE14"/>
    <a:srgbClr val="B8A848"/>
    <a:srgbClr val="B07202"/>
    <a:srgbClr val="8F981A"/>
    <a:srgbClr val="009900"/>
    <a:srgbClr val="FFFFFF"/>
    <a:srgbClr val="8DB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4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26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845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596BA54-76DD-97D0-723B-93E58C23FD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26CAB7-3D10-74C1-97A8-276C8A15A5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FC47D-9FCC-480E-ACDF-9F506E69D146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920443-FF7E-3452-D7B5-37E318E829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7ECD07-0052-F663-1216-4F818797AE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20669-782A-4696-96B0-7F8C74B21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194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724ACD0-26D9-602D-C8E5-5743F687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AAAA1C3-2FE8-8943-AC4F-7606585C33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47FFBBB-4E63-7BB4-187E-C2560C7B6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9153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4EDB6F0-F518-1605-B5AF-2B18B67F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460D191-9A49-BE6E-0B8B-07A95B3ED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23E989F0-472D-4961-1626-3565F4A8F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2618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6C64186-4826-AC17-498C-138FD566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BE44A29-D93A-E6CC-36D9-181EB41CB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141F73AA-DAEB-D59C-74C1-8EAF53368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5989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36841DED-72E7-4BF8-61FF-2997B871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ADB1BD6-B4AF-EC90-ED80-FBF342D35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148740D-92B3-BB2E-6AC2-AC6BB50E8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ＤＯＳ　Ｓｔｕｂ이　남은　이유？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563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0C4E41A-0E37-DBA5-A562-752CFCFA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5903A58-1C14-A464-C433-5035989BA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203F2B4-624C-0D81-25FF-8A774E4EB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https://learn.microsoft.com/en-us/windows/win32/debug/pe-format#characteristics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30674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D7FF7B3-AED5-2358-542D-AA41FC9C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F371BC7-4CA7-0AB4-E87A-A26E0070D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9C37A14-35C4-788C-150D-EC16F1CB3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340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0FD97A3-3612-7B99-9F57-F078E0BC8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CBBA559-1260-E639-F43D-366340F9B8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A46D790-DC51-3E44-0AFE-3E1AF40A1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9746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2FD9EF8-2EF2-BEF8-7B58-C3F5A720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088BD3C-3685-7FC1-DAE4-58C9C1E57E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DC757A64-4EF3-BDF7-80F8-76033A9FD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763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80C7D66-E6DA-D12B-15C5-AD6666FC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539F6D2-A4E2-0830-7125-7750635FF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9A7B081-FAB6-D47D-24D0-7AB434D38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149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D45EBAC-BE42-1B03-FA26-9DD75076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4E11D8C-0D4E-8F04-0157-4C32C0F92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7A13E54-5204-9483-CF37-CC7E7119AF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5311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6920A9A-72A0-6A01-2DE6-99EE56BB6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ED2077F-4579-C499-B2D4-D1027498E4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D9713A4-A362-0040-85BE-DE1093569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2502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336C154-9F14-015B-DF85-5322438A1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48BC9A8-D237-0BEF-4C75-A908B8B786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A6E80A6-6119-6047-731E-539A1E33F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92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0334125-F0A1-0221-5FB9-C4118830E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E683A12-51E8-A966-B5B3-1E5442BDF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7382C449-E877-C626-9298-61D9BC997A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7800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BB71D0B-9DA0-B679-AA24-7044A36B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C503390-2B96-F485-2D7D-A202A9D12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0997E5D-8975-E38C-8185-348DF851E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5903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6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6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1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1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6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1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1" y="1307101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1" y="367424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1" y="1348751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1" y="22854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1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1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빈 화면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1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맑은 고딕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1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2552" y="1096600"/>
            <a:ext cx="8238900" cy="38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/>
              <a:t>dd</a:t>
            </a:r>
          </a:p>
          <a:p>
            <a:r>
              <a:rPr lang="en-US"/>
              <a:t>d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82563" marR="0" lvl="0" indent="-30163" algn="l" defTabSz="360000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None/>
        <a:tabLst>
          <a:tab pos="180000" algn="l"/>
          <a:tab pos="270000" algn="l"/>
          <a:tab pos="630000" algn="l"/>
        </a:tabLst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L="609600" marR="0" lvl="1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L="1066800" marR="0" lvl="2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L="1524000" marR="0" lvl="3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L="1981200" marR="0" lvl="4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L="2438400" marR="0" lvl="5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737886" y="1792800"/>
            <a:ext cx="7668231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6000"/>
              <a:t>PE</a:t>
            </a:r>
            <a:endParaRPr sz="6000"/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2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6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5AF286A-D40E-7C64-131F-9C53F976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681EF65-A0E9-CB4A-26F7-C49CC388C31A}"/>
              </a:ext>
            </a:extLst>
          </p:cNvPr>
          <p:cNvSpPr txBox="1"/>
          <p:nvPr/>
        </p:nvSpPr>
        <p:spPr>
          <a:xfrm flipH="1">
            <a:off x="452551" y="885618"/>
            <a:ext cx="8111004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OS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사용되는 실행 파일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(Image File)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구조를 설명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7800">
              <a:buSzPct val="33000"/>
              <a:buFont typeface="페이퍼로지 4 Regular" pitchFamily="2" charset="-127"/>
              <a:buChar char="○"/>
            </a:pPr>
            <a:endParaRPr lang="en-US" altLang="ko-KR" sz="105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7800">
              <a:buSzPct val="33000"/>
              <a:buFont typeface="페이퍼로지 4 Regular" pitchFamily="2" charset="-127"/>
              <a:buChar char="○"/>
            </a:pPr>
            <a:r>
              <a:rPr lang="ko-KR" altLang="en-US" sz="10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실행 파일</a:t>
            </a:r>
            <a:r>
              <a:rPr lang="en-US" altLang="ko-KR" sz="10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0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휴대용 실행 파일</a:t>
            </a:r>
            <a:r>
              <a:rPr lang="en-US" altLang="ko-KR" sz="10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PE</a:t>
            </a:r>
            <a:r>
              <a:rPr lang="en-US" altLang="ko-KR" sz="9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(Portable Executable) </a:t>
            </a:r>
            <a:r>
              <a:rPr lang="en-US" altLang="ko-KR" sz="10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FILE</a:t>
            </a:r>
          </a:p>
          <a:p>
            <a:pPr marL="355600" lvl="3" indent="-177800">
              <a:buSzPct val="33000"/>
              <a:buFont typeface="페이퍼로지 4 Regular" pitchFamily="2" charset="-127"/>
              <a:buChar char="○"/>
            </a:pPr>
            <a:r>
              <a:rPr lang="ko-KR" altLang="en-US" sz="10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공통 오브젝트 파일 형식</a:t>
            </a:r>
            <a:r>
              <a:rPr lang="en-US" altLang="ko-KR" sz="10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</a:t>
            </a:r>
            <a:r>
              <a:rPr lang="en-US" altLang="ko-KR" sz="10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COFF</a:t>
            </a:r>
            <a:r>
              <a:rPr lang="en-US" altLang="ko-KR" sz="9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(Common Object File Format) </a:t>
            </a:r>
            <a:r>
              <a:rPr lang="en-US" altLang="ko-KR" sz="10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FILE &gt; </a:t>
            </a:r>
            <a:r>
              <a:rPr lang="ko-KR" altLang="en-US" sz="10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링커 동작 전 목적 파일</a:t>
            </a:r>
            <a:endParaRPr lang="en-US" altLang="ko-KR" sz="105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3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Portable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Excutable FILE ?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7800">
              <a:buSzPct val="33000"/>
              <a:buFont typeface="페이퍼로지 4 Regular" pitchFamily="2" charset="-127"/>
              <a:buChar char="○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형식이 아키텍처에 종속되지 않는다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marL="355600" lvl="3" indent="-177800">
              <a:buSzPct val="33000"/>
              <a:buFont typeface="페이퍼로지 4 Regular" pitchFamily="2" charset="-127"/>
              <a:buChar char="○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다양한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CPU Arch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실행 파일을 표현할 수 있는 공통 파일 형식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7800">
              <a:buSzPct val="33000"/>
              <a:buFont typeface="페이퍼로지 4 Regular" pitchFamily="2" charset="-127"/>
              <a:buChar char="○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 기계어 코드는 대상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CPU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Arch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종속됨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7800">
              <a:buSzPct val="33000"/>
              <a:buFont typeface="페이퍼로지 4 Regular" pitchFamily="2" charset="-127"/>
              <a:buChar char="○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7800">
              <a:buSzPct val="33000"/>
              <a:buFont typeface="페이퍼로지 4 Regular" pitchFamily="2" charset="-127"/>
              <a:buChar char="○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7800">
              <a:buSzPct val="33000"/>
              <a:buFont typeface="페이퍼로지 4 Regular" pitchFamily="2" charset="-127"/>
              <a:buChar char="○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763" lvl="3">
              <a:buSzPct val="330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3" lvl="3" indent="-177800">
              <a:buSzPct val="33000"/>
              <a:buFont typeface="페이퍼로지 4 Regular" pitchFamily="2" charset="-127"/>
              <a:buChar char="○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4655F97-9F92-2CF6-C15A-6815030698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1004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A5B2225-E967-29DA-1D04-4BC98A57D46B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467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167">
          <a:extLst>
            <a:ext uri="{FF2B5EF4-FFF2-40B4-BE49-F238E27FC236}">
              <a16:creationId xmlns:a16="http://schemas.microsoft.com/office/drawing/2014/main" id="{8C1F6C5C-6ACA-F070-C71F-F4BC623FF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003BD45-1DCE-A13F-77EB-385FA1EBCCE8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356EA7B-196F-CC75-595F-5580105DF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058932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General</a:t>
            </a:r>
            <a:r>
              <a:rPr lang="ko-KR" altLang="en-US"/>
              <a:t> </a:t>
            </a:r>
            <a:r>
              <a:rPr lang="en-US" altLang="ko-KR"/>
              <a:t>Concepts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8BF5FAF-2E59-B63E-81DA-0972C2FF3384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0195B8B-67A0-4994-5D7C-66E3C96B5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905721"/>
              </p:ext>
            </p:extLst>
          </p:nvPr>
        </p:nvGraphicFramePr>
        <p:xfrm>
          <a:off x="452548" y="966286"/>
          <a:ext cx="8058935" cy="3506551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726772">
                  <a:extLst>
                    <a:ext uri="{9D8B030D-6E8A-4147-A177-3AD203B41FA5}">
                      <a16:colId xmlns:a16="http://schemas.microsoft.com/office/drawing/2014/main" val="4121703567"/>
                    </a:ext>
                  </a:extLst>
                </a:gridCol>
                <a:gridCol w="6332163">
                  <a:extLst>
                    <a:ext uri="{9D8B030D-6E8A-4147-A177-3AD203B41FA5}">
                      <a16:colId xmlns:a16="http://schemas.microsoft.com/office/drawing/2014/main" val="3894057307"/>
                    </a:ext>
                  </a:extLst>
                </a:gridCol>
              </a:tblGrid>
              <a:tr h="189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Name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Desc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06683"/>
                  </a:ext>
                </a:extLst>
              </a:tr>
              <a:tr h="189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attribute certificate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이미지에 검증 가능한 정보를 연결하는데 사용되는 인증서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471151"/>
                  </a:ext>
                </a:extLst>
              </a:tr>
              <a:tr h="3135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date/time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stamp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PE or COFF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파일의 여러 위치에서 다양한 용도로 사용되는 스탬프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  <a:b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</a:b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   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0xFFFFFFFF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인 경우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의미 있는 날짜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/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시간 스탬프를 나타내지 않음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161482"/>
                  </a:ext>
                </a:extLst>
              </a:tr>
              <a:tr h="3135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file pointer</a:t>
                      </a:r>
                    </a:p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&gt; file offset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Linker(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오브젝트 파일의 경우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) or Loader(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이미지 파일의 경우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)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에 의해 처리되기 이전에 파일 내에서의 항목 위치를 나타냄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  <a:b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</a:b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   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i.e.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현재 파일의 시작 위치 기준 몇 바이트 떨어져있는지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...</a:t>
                      </a:r>
                      <a:endParaRPr lang="ko-KR" altLang="en-US" sz="7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96416"/>
                  </a:ext>
                </a:extLst>
              </a:tr>
              <a:tr h="189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linker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Microsoft Visual Studio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에  포함된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Linker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에 대한 참조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706804"/>
                  </a:ext>
                </a:extLst>
              </a:tr>
              <a:tr h="189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reserved, must be 0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Generators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는 해당 필드의 값이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0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이어야 함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 Consumers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는 해당 필드를 무시해야 함을 나타내는 필드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344849"/>
                  </a:ext>
                </a:extLst>
              </a:tr>
              <a:tr h="6033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Relative Virtual Address (RVA)</a:t>
                      </a:r>
                      <a:endParaRPr lang="ko-KR" altLang="en-US" sz="9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이미지 파일의 경우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, RVA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는 항목이 메모리에 적재된 후의 이미지 시작 주소이며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이미지 파일의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Base Address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를 뺀 값이다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endParaRPr lang="en-US" altLang="ko-KR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505961"/>
                  </a:ext>
                </a:extLst>
              </a:tr>
              <a:tr h="6152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section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PE or COFF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파일 내부 코드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or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데이터의 기본 단위를 섹션이라 함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e.g. 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오브젝트 파일의 모든 코드는 단일 섹션에 결합될 수 있고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컴파일러 동작에 따라 각 함수가 자체 섹션을 차지할 수도 있다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</a:p>
                    <a:p>
                      <a:pPr marL="0" indent="182563" latinLnBrk="1"/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  섹션이 많을수록 파일 오버헤드는 증가하지만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링크는 코드를 더욱 선택적으로 링크할 수 있게 된다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  <a:p>
                      <a:pPr marL="0" indent="182563" latinLnBrk="1"/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  섹션 내의 모든 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raw data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는 연속적으로 로드되어야 함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  <a:p>
                      <a:pPr marL="0" indent="182563" latinLnBrk="1"/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  또한 이미지 파일에는 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.tls or .reloc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과 같이 특수한 목적을 가진 여러 섹션이 포함될 수 있다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909005"/>
                  </a:ext>
                </a:extLst>
              </a:tr>
              <a:tr h="510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Virtual Address (VA)</a:t>
                      </a:r>
                      <a:endParaRPr lang="ko-KR" altLang="en-US" sz="9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RVA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와 동일하지만 이미지 파일의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Base Address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를 빼지 않는 점이 다름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  <a:p>
                      <a:pPr marL="0" indent="0" latinLnBrk="1"/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프로세스의 가상 주소 공간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거의 모든 경우에 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VA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는 단순 주소로 간주하면 된다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12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346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4B224FA-65D0-EB8D-5B5F-29177155D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8DFA44A-CCC0-FB46-373B-32EC8D85605B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223F057-4BC4-4884-121F-989F710E9A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2" y="121018"/>
            <a:ext cx="4829918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target: CaptainHook.exe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D216B1E-9F73-9D17-C2AB-602D6E089F99}"/>
              </a:ext>
            </a:extLst>
          </p:cNvPr>
          <p:cNvCxnSpPr>
            <a:cxnSpLocks/>
          </p:cNvCxnSpPr>
          <p:nvPr/>
        </p:nvCxnSpPr>
        <p:spPr>
          <a:xfrm>
            <a:off x="387276" y="763285"/>
            <a:ext cx="503991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F7DC161-811D-5EEF-BFDB-539824952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19830"/>
              </p:ext>
            </p:extLst>
          </p:nvPr>
        </p:nvGraphicFramePr>
        <p:xfrm>
          <a:off x="452551" y="1061705"/>
          <a:ext cx="4891590" cy="2499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04837">
                  <a:extLst>
                    <a:ext uri="{9D8B030D-6E8A-4147-A177-3AD203B41FA5}">
                      <a16:colId xmlns:a16="http://schemas.microsoft.com/office/drawing/2014/main" val="3132717627"/>
                    </a:ext>
                  </a:extLst>
                </a:gridCol>
                <a:gridCol w="2562112">
                  <a:extLst>
                    <a:ext uri="{9D8B030D-6E8A-4147-A177-3AD203B41FA5}">
                      <a16:colId xmlns:a16="http://schemas.microsoft.com/office/drawing/2014/main" val="4097124830"/>
                    </a:ext>
                  </a:extLst>
                </a:gridCol>
                <a:gridCol w="1724641">
                  <a:extLst>
                    <a:ext uri="{9D8B030D-6E8A-4147-A177-3AD203B41FA5}">
                      <a16:colId xmlns:a16="http://schemas.microsoft.com/office/drawing/2014/main" val="33241084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0">
                          <a:latin typeface="페이퍼로지 6 SemiBold" pitchFamily="2" charset="-127"/>
                          <a:ea typeface="페이퍼로지 6 SemiBold" pitchFamily="2" charset="-127"/>
                        </a:rPr>
                        <a:t>순서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0">
                          <a:latin typeface="페이퍼로지 6 SemiBold" pitchFamily="2" charset="-127"/>
                          <a:ea typeface="페이퍼로지 6 SemiBold" pitchFamily="2" charset="-127"/>
                        </a:rPr>
                        <a:t>구조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0">
                          <a:latin typeface="페이퍼로지 6 SemiBold" pitchFamily="2" charset="-127"/>
                          <a:ea typeface="페이퍼로지 6 SemiBold" pitchFamily="2" charset="-127"/>
                        </a:rPr>
                        <a:t>파일 범위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0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latin typeface="페이퍼로지 3 Light" pitchFamily="2" charset="-127"/>
                          <a:ea typeface="페이퍼로지 3 Light" pitchFamily="2" charset="-127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DOS 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0x0000~0x003F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693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DOS Stub와 부가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0x0040~0x00F7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642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latin typeface="페이퍼로지 3 Light" pitchFamily="2" charset="-127"/>
                          <a:ea typeface="페이퍼로지 3 Light" pitchFamily="2" charset="-127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PE Signature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0x00F8~0x00FB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433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COFF File 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0x00FC~0x010F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913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latin typeface="페이퍼로지 3 Light" pitchFamily="2" charset="-127"/>
                          <a:ea typeface="페이퍼로지 3 Light" pitchFamily="2" charset="-127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Optional 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0x0110~0x01FF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44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latin typeface="페이퍼로지 3 Light" pitchFamily="2" charset="-127"/>
                          <a:ea typeface="페이퍼로지 3 Light" pitchFamily="2" charset="-127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Section Headers — 섹션 테이블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0x0200~0x02EF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861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latin typeface="페이퍼로지 3 Light" pitchFamily="2" charset="-127"/>
                          <a:ea typeface="페이퍼로지 3 Light" pitchFamily="2" charset="-127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헤더 정렬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0x02F0~0x03FF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701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latin typeface="페이퍼로지 3 Light" pitchFamily="2" charset="-127"/>
                          <a:ea typeface="페이퍼로지 3 Light" pitchFamily="2" charset="-127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실제 섹션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0x0400</a:t>
                      </a:r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~</a:t>
                      </a:r>
                      <a:endParaRPr lang="ko-KR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60647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EFDBD03F-F7E3-1FC7-B89D-2445851141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964"/>
          <a:stretch>
            <a:fillRect/>
          </a:stretch>
        </p:blipFill>
        <p:spPr>
          <a:xfrm>
            <a:off x="5677874" y="121017"/>
            <a:ext cx="2726004" cy="477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EA6759E-7960-35E7-211C-BF1E2BCB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873B91C-909E-6802-49CF-058C977569DE}"/>
              </a:ext>
            </a:extLst>
          </p:cNvPr>
          <p:cNvSpPr txBox="1"/>
          <p:nvPr/>
        </p:nvSpPr>
        <p:spPr>
          <a:xfrm flipH="1">
            <a:off x="452551" y="885618"/>
            <a:ext cx="8097478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SzPts val="1600"/>
            </a:pPr>
            <a:r>
              <a:rPr lang="en-US" altLang="ko-KR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 PE </a:t>
            </a:r>
            <a:r>
              <a:rPr lang="ko-KR" altLang="en-US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 헤더는 </a:t>
            </a:r>
            <a:r>
              <a:rPr lang="en-US" altLang="ko-KR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Microsoft MS-DOS stub, PE signature, COFF </a:t>
            </a:r>
            <a:r>
              <a:rPr lang="ko-KR" altLang="en-US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 헤더 및 </a:t>
            </a:r>
            <a:r>
              <a:rPr lang="en-US" altLang="ko-KR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Optional</a:t>
            </a:r>
            <a:r>
              <a:rPr lang="ko-KR" altLang="en-US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헤더로 구성 </a:t>
            </a:r>
            <a:r>
              <a:rPr lang="en-US" altLang="ko-KR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MS-DOS stub </a:t>
            </a:r>
            <a:r>
              <a:rPr lang="en-US" altLang="ko-KR" sz="7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(Image Only)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MS-DOS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환경에서 실행되는 유효한 애플리케이션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stub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EXE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이미지의 맨 앞에 위치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&gt;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링커는 기본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stub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여기에 배치함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stub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file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0x3C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위치에는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서명에 대한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offset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존재함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정보를 통해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MS-DOS stub file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있더라도 이미지 파일을 제대로 실행 가능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Signature </a:t>
            </a:r>
            <a:r>
              <a:rPr lang="en-US" altLang="ko-KR" sz="7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(Image Only)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MS-DOS stub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이후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0x3C offset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형식 이미지 파일임을 식별하는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4byte Signature</a:t>
            </a: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형식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"PE\0\0"</a:t>
            </a: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3" lvl="3" indent="-182563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COFF File Header </a:t>
            </a:r>
            <a:r>
              <a:rPr lang="en-US" altLang="ko-KR" sz="7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(Object &amp; Image)</a:t>
            </a:r>
          </a:p>
          <a:p>
            <a:pPr marL="182563" lvl="3" indent="-182563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오브젝트 파일의 시작 부분이나 이미지 파일 시그니처 바로 뒤에는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다음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 같은 형식의 표준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COFF File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Header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lvl="3">
              <a:buSzPts val="1600"/>
            </a:pPr>
            <a: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</a:p>
          <a:p>
            <a:pPr lvl="3">
              <a:buSzPts val="1600"/>
            </a:pPr>
            <a: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3" lvl="3" indent="-182563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Optional Header </a:t>
            </a:r>
            <a:r>
              <a:rPr lang="en-US" altLang="ko-KR" sz="7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(Image Only)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3" lvl="3" indent="-182563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ko-KR" altLang="en-US" sz="1000" u="sng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모든 이미지 파일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에는 로더에 정보를 제공하는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Optional Header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헤더는 일부 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특히 오브젝트 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에는 없다는 점에서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Optional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하다는 의미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*&gt;&gt;*Optional Header**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경우 크기가 고정❌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3" lvl="3">
              <a:buSzPts val="1600"/>
            </a:pPr>
            <a:endParaRPr lang="en-US" altLang="ko-KR" sz="7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3" lvl="3">
              <a:buSzPts val="1600"/>
            </a:pPr>
            <a:r>
              <a:rPr lang="en-US" altLang="ko-KR" sz="7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+ Win Loader </a:t>
            </a:r>
            <a:r>
              <a:rPr lang="ko-KR" altLang="en-US" sz="7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섹션 수 제한</a:t>
            </a:r>
            <a:r>
              <a:rPr lang="en-US" altLang="ko-KR" sz="7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96</a:t>
            </a:r>
            <a:r>
              <a:rPr lang="ko-KR" altLang="en-US" sz="7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</a:t>
            </a:r>
            <a:endParaRPr lang="en-US" altLang="ko-KR" sz="7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FAFA12B9-4D08-35FE-FEA9-93FEEEAA1E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097478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File Headers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57F9F18-0424-D966-BCE8-4A0BB9347D81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AE4253A-29CA-197F-D350-A213A0B68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425" y="1191381"/>
            <a:ext cx="2721604" cy="138036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B349772-092B-D0A2-660D-FA5329C1A8EC}"/>
              </a:ext>
            </a:extLst>
          </p:cNvPr>
          <p:cNvSpPr/>
          <p:nvPr/>
        </p:nvSpPr>
        <p:spPr>
          <a:xfrm>
            <a:off x="6197600" y="1860550"/>
            <a:ext cx="412750" cy="6359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C74DC2-C3AC-B3C8-1A29-8B8321434827}"/>
              </a:ext>
            </a:extLst>
          </p:cNvPr>
          <p:cNvSpPr/>
          <p:nvPr/>
        </p:nvSpPr>
        <p:spPr>
          <a:xfrm>
            <a:off x="7947025" y="1860550"/>
            <a:ext cx="82550" cy="6673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265562B-A5C8-49F5-6C21-A0CA8DA8C846}"/>
              </a:ext>
            </a:extLst>
          </p:cNvPr>
          <p:cNvCxnSpPr>
            <a:cxnSpLocks/>
          </p:cNvCxnSpPr>
          <p:nvPr/>
        </p:nvCxnSpPr>
        <p:spPr>
          <a:xfrm>
            <a:off x="4097020" y="1924158"/>
            <a:ext cx="20675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9ECCC82-12DB-0F6B-A55E-12651E47DFFF}"/>
              </a:ext>
            </a:extLst>
          </p:cNvPr>
          <p:cNvCxnSpPr>
            <a:cxnSpLocks/>
          </p:cNvCxnSpPr>
          <p:nvPr/>
        </p:nvCxnSpPr>
        <p:spPr>
          <a:xfrm flipV="1">
            <a:off x="2814762" y="1924158"/>
            <a:ext cx="3349818" cy="4930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412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45C8F21-FF17-815D-89C2-E85748F3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CD02AE1E-D283-EE20-3510-3163E9BC4B6E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4BFDC00-E8B5-86E2-3B16-428B75CD9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COFF File Header contents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167D3FB-CC5D-DA24-146A-4FCA494DE107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700A6BD-BCA9-2BA9-E337-00FF8A173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825348"/>
              </p:ext>
            </p:extLst>
          </p:nvPr>
        </p:nvGraphicFramePr>
        <p:xfrm>
          <a:off x="809708" y="1613176"/>
          <a:ext cx="7524584" cy="2970628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519485">
                  <a:extLst>
                    <a:ext uri="{9D8B030D-6E8A-4147-A177-3AD203B41FA5}">
                      <a16:colId xmlns:a16="http://schemas.microsoft.com/office/drawing/2014/main" val="1419212665"/>
                    </a:ext>
                  </a:extLst>
                </a:gridCol>
                <a:gridCol w="437322">
                  <a:extLst>
                    <a:ext uri="{9D8B030D-6E8A-4147-A177-3AD203B41FA5}">
                      <a16:colId xmlns:a16="http://schemas.microsoft.com/office/drawing/2014/main" val="3160320595"/>
                    </a:ext>
                  </a:extLst>
                </a:gridCol>
                <a:gridCol w="1550504">
                  <a:extLst>
                    <a:ext uri="{9D8B030D-6E8A-4147-A177-3AD203B41FA5}">
                      <a16:colId xmlns:a16="http://schemas.microsoft.com/office/drawing/2014/main" val="3393409921"/>
                    </a:ext>
                  </a:extLst>
                </a:gridCol>
                <a:gridCol w="5017273">
                  <a:extLst>
                    <a:ext uri="{9D8B030D-6E8A-4147-A177-3AD203B41FA5}">
                      <a16:colId xmlns:a16="http://schemas.microsoft.com/office/drawing/2014/main" val="1423789129"/>
                    </a:ext>
                  </a:extLst>
                </a:gridCol>
              </a:tblGrid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Offset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Size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Field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Desc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632861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0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Machine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대상 기기 유형 식별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( x64, ARM64, etc. )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597838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NumberOfSections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섹션 수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 헤더 바로 뒤에 나오는 섹션 표의 크기를 나타냄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400727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TimeDateStamp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1970/1/1/00:00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이후 경과된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sec</a:t>
                      </a:r>
                    </a:p>
                    <a:p>
                      <a:pPr latinLnBrk="1"/>
                      <a:endParaRPr lang="en-US" altLang="ko-KR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 </a:t>
                      </a:r>
                      <a:r>
                        <a:rPr lang="ko-KR" altLang="ko-KR" sz="800">
                          <a:latin typeface="페이퍼로지 2 ExtraLight" pitchFamily="2" charset="-127"/>
                          <a:ea typeface="페이퍼로지 2 ExtraLight" pitchFamily="2" charset="-127"/>
                        </a:rPr>
                        <a:t>2026년 3월 19일 03:56:11 UTC</a:t>
                      </a:r>
                      <a:endParaRPr lang="ko-KR" altLang="en-US" sz="800">
                        <a:latin typeface="페이퍼로지 2 ExtraLight" pitchFamily="2" charset="-127"/>
                        <a:ea typeface="페이퍼로지 2 Extra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907574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8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PointerToSymbolTable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COFF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심볼 테이블의 파일 오프셋</a:t>
                      </a:r>
                      <a:endParaRPr lang="en-US" altLang="ko-KR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 </a:t>
                      </a:r>
                    </a:p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COFF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가 없으면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0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379962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12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NumberOfSymbols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심볼 테이블의 항목 수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심볼 테이블 바로 다음에 오는 문자열 테이블의 위치를 찾는데 사용가능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135252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16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SizeOfOptionalHeader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실행 파일에는 필수적이지만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오브젝트 파일에는 필수가 아닌 선택적 헤더의 크기</a:t>
                      </a:r>
                      <a:endParaRPr lang="en-US" altLang="ko-KR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endParaRPr lang="en-US" altLang="ko-KR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오브젝트 파일의 경우 이 값은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0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이어야 함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238829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18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Characteristics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파일의 속성을 나타내는 플래그</a:t>
                      </a:r>
                      <a:b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</a:br>
                      <a:endParaRPr lang="en-US" altLang="ko-KR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https://learn.microsoft.com/en-us/windows/win32/debug/pe-format#characteristics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972804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222CCB0E-4233-2D60-DEBA-D5EE93493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425" y="1191381"/>
            <a:ext cx="3096426" cy="15704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E852A31-4459-6752-07ED-0C35214A2D2C}"/>
              </a:ext>
            </a:extLst>
          </p:cNvPr>
          <p:cNvSpPr/>
          <p:nvPr/>
        </p:nvSpPr>
        <p:spPr>
          <a:xfrm>
            <a:off x="6731000" y="1943100"/>
            <a:ext cx="234950" cy="889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FBFF95-6F06-10D3-A642-5C8DA3514CBD}"/>
              </a:ext>
            </a:extLst>
          </p:cNvPr>
          <p:cNvSpPr/>
          <p:nvPr/>
        </p:nvSpPr>
        <p:spPr>
          <a:xfrm>
            <a:off x="6965950" y="1943100"/>
            <a:ext cx="234950" cy="889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7773B1-A1FD-1DA3-F956-36C36B0CA76D}"/>
              </a:ext>
            </a:extLst>
          </p:cNvPr>
          <p:cNvSpPr/>
          <p:nvPr/>
        </p:nvSpPr>
        <p:spPr>
          <a:xfrm>
            <a:off x="7200899" y="1943100"/>
            <a:ext cx="492125" cy="889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8A5816-D7DB-18A3-3F95-5DD0327C6041}"/>
              </a:ext>
            </a:extLst>
          </p:cNvPr>
          <p:cNvSpPr/>
          <p:nvPr/>
        </p:nvSpPr>
        <p:spPr>
          <a:xfrm>
            <a:off x="7693024" y="1943100"/>
            <a:ext cx="479426" cy="889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62CF32-416F-ABE7-58B5-B5C6A4D5B2D9}"/>
              </a:ext>
            </a:extLst>
          </p:cNvPr>
          <p:cNvSpPr/>
          <p:nvPr/>
        </p:nvSpPr>
        <p:spPr>
          <a:xfrm>
            <a:off x="6249987" y="2032000"/>
            <a:ext cx="478749" cy="889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23D510-BECC-E075-77C7-7EE09DD8ABD9}"/>
              </a:ext>
            </a:extLst>
          </p:cNvPr>
          <p:cNvSpPr/>
          <p:nvPr/>
        </p:nvSpPr>
        <p:spPr>
          <a:xfrm>
            <a:off x="6730079" y="2032000"/>
            <a:ext cx="234950" cy="889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4AB11D-D5EA-E70C-0315-F5558DAF62CE}"/>
              </a:ext>
            </a:extLst>
          </p:cNvPr>
          <p:cNvSpPr/>
          <p:nvPr/>
        </p:nvSpPr>
        <p:spPr>
          <a:xfrm>
            <a:off x="6965489" y="2032000"/>
            <a:ext cx="234950" cy="889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76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88394FD-9FFC-2371-18BE-7236DD045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8F61B8F-985D-7346-79F9-4057A3B0DD23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Optional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Header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크게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가지로 분류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 i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 i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 i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 i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 i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 i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 i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 i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 i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 i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https://learn.microsoft.com/ko-kr/windows/win32/debug/pe-format#coff-file-header-object-and-image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D2E4AED-4CCC-0BBD-CFE1-A614D4E8DC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Optional Header contents </a:t>
            </a:r>
            <a:r>
              <a:rPr lang="en" sz="1100"/>
              <a:t>[ </a:t>
            </a:r>
            <a:r>
              <a:rPr lang="ko-KR" altLang="ko-KR" sz="1100"/>
              <a:t>0x0110~0x01FF</a:t>
            </a:r>
            <a:r>
              <a:rPr lang="en-US" altLang="ko-KR" sz="1100"/>
              <a:t> </a:t>
            </a:r>
            <a:r>
              <a:rPr lang="en" sz="1100"/>
              <a:t>]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EB508FA-899E-81C4-36A0-9B466D08A4B6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A1AE87C-E03D-5D56-F765-434504284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900389"/>
              </p:ext>
            </p:extLst>
          </p:nvPr>
        </p:nvGraphicFramePr>
        <p:xfrm>
          <a:off x="858740" y="1255367"/>
          <a:ext cx="7442421" cy="27025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363375">
                  <a:extLst>
                    <a:ext uri="{9D8B030D-6E8A-4147-A177-3AD203B41FA5}">
                      <a16:colId xmlns:a16="http://schemas.microsoft.com/office/drawing/2014/main" val="1891219461"/>
                    </a:ext>
                  </a:extLst>
                </a:gridCol>
                <a:gridCol w="1275156">
                  <a:extLst>
                    <a:ext uri="{9D8B030D-6E8A-4147-A177-3AD203B41FA5}">
                      <a16:colId xmlns:a16="http://schemas.microsoft.com/office/drawing/2014/main" val="83162696"/>
                    </a:ext>
                  </a:extLst>
                </a:gridCol>
                <a:gridCol w="1587930">
                  <a:extLst>
                    <a:ext uri="{9D8B030D-6E8A-4147-A177-3AD203B41FA5}">
                      <a16:colId xmlns:a16="http://schemas.microsoft.com/office/drawing/2014/main" val="2648376882"/>
                    </a:ext>
                  </a:extLst>
                </a:gridCol>
                <a:gridCol w="3215960">
                  <a:extLst>
                    <a:ext uri="{9D8B030D-6E8A-4147-A177-3AD203B41FA5}">
                      <a16:colId xmlns:a16="http://schemas.microsoft.com/office/drawing/2014/main" val="3504866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Offset(PE32 / PE32+)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Size(PE32 / PE32+)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Header Part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Desc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09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0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28 / 24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Standard Fields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UNIX</a:t>
                      </a:r>
                      <a:r>
                        <a:rPr lang="ko-KR" altLang="en-US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를 포함한 </a:t>
                      </a:r>
                      <a:r>
                        <a:rPr lang="en-US" altLang="ko-KR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COFF </a:t>
                      </a:r>
                      <a:r>
                        <a:rPr lang="ko-KR" altLang="en-US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구현에서 정의된 필드 </a:t>
                      </a:r>
                      <a:endParaRPr lang="en-US" altLang="ko-KR" sz="9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endParaRPr lang="en-US" altLang="ko-KR" sz="9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&gt;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실행 파일 로드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실행에 필요한 정보가 저장</a:t>
                      </a:r>
                      <a:endParaRPr lang="en-US" altLang="ko-KR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endParaRPr lang="en-US" altLang="ko-KR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&gt;&gt; SizeOfCode, SizeOfInitialzedData, SizeOfUninitializedData, BaseOfCode, AddressOfEntryPoint, etc...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596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28 / 24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68 / 88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Windows-specific Fields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Windows </a:t>
                      </a:r>
                      <a:r>
                        <a:rPr lang="ko-KR" altLang="en-US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특정 기능</a:t>
                      </a:r>
                      <a:r>
                        <a:rPr lang="en-US" altLang="ko-KR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(e.g. </a:t>
                      </a:r>
                      <a:r>
                        <a:rPr lang="ko-KR" altLang="en-US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하위 시스템</a:t>
                      </a:r>
                      <a:r>
                        <a:rPr lang="en-US" altLang="ko-KR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)</a:t>
                      </a:r>
                      <a:r>
                        <a:rPr lang="ko-KR" altLang="en-US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을 지원하기 위한 추가 필드</a:t>
                      </a:r>
                      <a:endParaRPr lang="en-US" altLang="ko-KR" sz="9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endParaRPr lang="en-US" altLang="ko-KR" sz="9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&gt;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링커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로더에 필요한 정보가 저장</a:t>
                      </a:r>
                      <a:endParaRPr lang="en-US" altLang="ko-KR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endParaRPr lang="en-US" altLang="ko-KR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&gt;&gt; ImageBase,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SectionAlignment,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Checksum,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etc...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474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96 / 112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var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Data directories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u="sng">
                          <a:latin typeface="페이퍼로지 3 Light" pitchFamily="2" charset="-127"/>
                          <a:ea typeface="페이퍼로지 3 Light" pitchFamily="2" charset="-127"/>
                        </a:rPr>
                        <a:t>이미지 파일에 포함</a:t>
                      </a:r>
                      <a:r>
                        <a:rPr lang="ko-KR" altLang="en-US" sz="900" b="1">
                          <a:latin typeface="페이퍼로지 3 Light" pitchFamily="2" charset="-127"/>
                          <a:ea typeface="페이퍼로지 3 Light" pitchFamily="2" charset="-127"/>
                        </a:rPr>
                        <a:t>되어 운영체제에서 사용되는 특수 테이블</a:t>
                      </a:r>
                      <a:endParaRPr lang="en-US" altLang="ko-KR" sz="9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endParaRPr lang="en-US" altLang="ko-KR" sz="9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(e.g. import/export table)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의 주소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/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크기 쌍이다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064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12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EB2E3398-E4EE-ECD9-2308-7F61EB3D9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736D9116-7C94-F330-3920-571793AF046A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B72E362-069F-F954-BADF-F6DAF70D0B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Optional Header </a:t>
            </a:r>
            <a:r>
              <a:rPr lang="en" altLang="ko-KR"/>
              <a:t>contents </a:t>
            </a:r>
            <a:r>
              <a:rPr lang="en" altLang="ko-KR" sz="1100"/>
              <a:t>[ </a:t>
            </a:r>
            <a:r>
              <a:rPr lang="ko-KR" altLang="ko-KR" sz="1100"/>
              <a:t>0x0110~0x01FF</a:t>
            </a:r>
            <a:r>
              <a:rPr lang="en-US" altLang="ko-KR" sz="1100"/>
              <a:t> </a:t>
            </a:r>
            <a:r>
              <a:rPr lang="en" altLang="ko-KR" sz="1100"/>
              <a:t>]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22C58D6-92CA-1DEB-E4AE-B71D1EA89AD3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3917A3B-FCC6-C44D-67EF-5FEAC4AC85AA}"/>
              </a:ext>
            </a:extLst>
          </p:cNvPr>
          <p:cNvSpPr txBox="1"/>
          <p:nvPr/>
        </p:nvSpPr>
        <p:spPr>
          <a:xfrm>
            <a:off x="704850" y="1466047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>
                <a:latin typeface="페이퍼로지 5 Medium" pitchFamily="2" charset="-127"/>
                <a:ea typeface="페이퍼로지 5 Medium" pitchFamily="2" charset="-127"/>
              </a:rPr>
              <a:t>Optional Header</a:t>
            </a:r>
          </a:p>
          <a:p>
            <a:pPr rtl="0">
              <a:buNone/>
            </a:pPr>
            <a:r>
              <a:rPr lang="ko-KR" altLang="ko-KR">
                <a:latin typeface="페이퍼로지 5 Medium" pitchFamily="2" charset="-127"/>
                <a:ea typeface="페이퍼로지 5 Medium" pitchFamily="2" charset="-127"/>
              </a:rPr>
              <a:t> ├─ Standard Fields           </a:t>
            </a:r>
            <a:r>
              <a:rPr lang="en-US" altLang="ko-KR">
                <a:latin typeface="페이퍼로지 5 Medium" pitchFamily="2" charset="-127"/>
                <a:ea typeface="페이퍼로지 5 Medium" pitchFamily="2" charset="-127"/>
              </a:rPr>
              <a:t>             </a:t>
            </a:r>
            <a:r>
              <a:rPr lang="ko-KR" altLang="ko-KR">
                <a:latin typeface="페이퍼로지 5 Medium" pitchFamily="2" charset="-127"/>
                <a:ea typeface="페이퍼로지 5 Medium" pitchFamily="2" charset="-127"/>
              </a:rPr>
              <a:t>0x110~0x127</a:t>
            </a:r>
          </a:p>
          <a:p>
            <a:pPr rtl="0">
              <a:buNone/>
            </a:pPr>
            <a:r>
              <a:rPr lang="ko-KR" altLang="ko-KR">
                <a:latin typeface="페이퍼로지 5 Medium" pitchFamily="2" charset="-127"/>
                <a:ea typeface="페이퍼로지 5 Medium" pitchFamily="2" charset="-127"/>
              </a:rPr>
              <a:t> ├─ Windows-specific Fields   </a:t>
            </a:r>
            <a:r>
              <a:rPr lang="en-US" altLang="ko-KR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ko-KR">
                <a:latin typeface="페이퍼로지 5 Medium" pitchFamily="2" charset="-127"/>
                <a:ea typeface="페이퍼로지 5 Medium" pitchFamily="2" charset="-127"/>
              </a:rPr>
              <a:t>0x128~0x17F</a:t>
            </a:r>
          </a:p>
          <a:p>
            <a:pPr rtl="0">
              <a:buNone/>
            </a:pPr>
            <a:r>
              <a:rPr lang="ko-KR" altLang="ko-KR">
                <a:latin typeface="페이퍼로지 5 Medium" pitchFamily="2" charset="-127"/>
                <a:ea typeface="페이퍼로지 5 Medium" pitchFamily="2" charset="-127"/>
              </a:rPr>
              <a:t> └─ Data Directories          </a:t>
            </a:r>
            <a:r>
              <a:rPr lang="en-US" altLang="ko-KR">
                <a:latin typeface="페이퍼로지 5 Medium" pitchFamily="2" charset="-127"/>
                <a:ea typeface="페이퍼로지 5 Medium" pitchFamily="2" charset="-127"/>
              </a:rPr>
              <a:t>             </a:t>
            </a:r>
            <a:r>
              <a:rPr lang="ko-KR" altLang="ko-KR">
                <a:latin typeface="페이퍼로지 5 Medium" pitchFamily="2" charset="-127"/>
                <a:ea typeface="페이퍼로지 5 Medium" pitchFamily="2" charset="-127"/>
              </a:rPr>
              <a:t>0x180~0x1FF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B17818-B218-CA7D-7004-E983522A3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952" y="1061705"/>
            <a:ext cx="2991743" cy="346639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F60F17B-3B08-9827-2B09-07A17482CABC}"/>
              </a:ext>
            </a:extLst>
          </p:cNvPr>
          <p:cNvSpPr/>
          <p:nvPr/>
        </p:nvSpPr>
        <p:spPr>
          <a:xfrm>
            <a:off x="5461952" y="2571750"/>
            <a:ext cx="2272348" cy="1207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471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9756703-67EC-1447-1955-C6738A350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686218E-6409-1C56-BD61-AA0157CEB2BB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+0x1000: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.text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시작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RVA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BDCF67A-9EA7-84A4-3559-D948380518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ko-KR"/>
              <a:t>OptHed::WinSpF::</a:t>
            </a:r>
            <a:r>
              <a:rPr lang="en-US"/>
              <a:t>ImageBase(oft: 0x0)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EACBFB-B8DF-981C-4A97-CBC3D85CCFF9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4CD1CAE5-3C7D-C7BA-CD87-BBAD17240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557" y="1247568"/>
            <a:ext cx="3985691" cy="32116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FA0BCEA-7035-64AF-86BE-CB941B4A9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94" y="1247568"/>
            <a:ext cx="3569608" cy="326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33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792579A-DFAA-4CD5-EA40-0450E260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11AB33CE-E7E4-0E03-A63D-817046AFC2C7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5061680-A66F-B6AF-F910-5E909E533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OptHead::Data directories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0B83822-87CC-E5B6-BE26-67F8BAFE4389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E73E81E-649D-DCCB-7BC0-5AA501AA2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098" y="885617"/>
            <a:ext cx="2855536" cy="413686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B093B7C-81EB-C8A7-49A9-76B3597DE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820" y="1646086"/>
            <a:ext cx="3045729" cy="69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58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E3E27F43-3C2D-4748-66EF-68196581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334CC9D-A76A-935D-A0B8-A153C33641A7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765A531E-1A0A-7F23-C9EE-46E444E049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OptHead::DataDir::import table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87B65F2-9E2E-99D3-1C29-EF26543D33F8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5D02704D-258C-7790-0364-43E19C1C9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669" y="1013460"/>
            <a:ext cx="4535837" cy="3657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11AAF3-90F1-2CA4-23BC-3CB1237FF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36" y="1013460"/>
            <a:ext cx="2991743" cy="346639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232E75-0173-6D3E-E49D-B7A30F45F6BF}"/>
              </a:ext>
            </a:extLst>
          </p:cNvPr>
          <p:cNvSpPr/>
          <p:nvPr/>
        </p:nvSpPr>
        <p:spPr>
          <a:xfrm>
            <a:off x="501736" y="2523505"/>
            <a:ext cx="2272348" cy="1207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0CBB971-0F84-F0CE-683D-A490EE53C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556" y="832001"/>
            <a:ext cx="7023798" cy="144133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8224E1-B0D8-5FD4-DC86-7449858C1EE8}"/>
              </a:ext>
            </a:extLst>
          </p:cNvPr>
          <p:cNvSpPr/>
          <p:nvPr/>
        </p:nvSpPr>
        <p:spPr>
          <a:xfrm>
            <a:off x="1837678" y="3098307"/>
            <a:ext cx="479394" cy="79899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1DCE855-84D1-384A-8820-923BCDE97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8419" y="3409375"/>
            <a:ext cx="3519089" cy="144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4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35AE60F4-05CA-2E5B-8220-6AB11715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E1D3862-C8B7-E81F-491F-3530C470D3F4}"/>
              </a:ext>
            </a:extLst>
          </p:cNvPr>
          <p:cNvSpPr txBox="1"/>
          <p:nvPr/>
        </p:nvSpPr>
        <p:spPr>
          <a:xfrm flipH="1">
            <a:off x="452550" y="843952"/>
            <a:ext cx="8118956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IMAGE_SECTION_HEADER(40 bytes)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연속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Optional Header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바로 뒤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          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           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각 섹션 실제 데이터를 어디에서 찾고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어떤 크기와 권한으로 메모리에 배치하는가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B636C43-199A-BCBD-FC27-32C2803D5233}"/>
              </a:ext>
            </a:extLst>
          </p:cNvPr>
          <p:cNvSpPr/>
          <p:nvPr/>
        </p:nvSpPr>
        <p:spPr>
          <a:xfrm>
            <a:off x="1060515" y="1580225"/>
            <a:ext cx="4350792" cy="275206"/>
          </a:xfrm>
          <a:prstGeom prst="round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B2D60C4-DA66-B19B-FFE8-C3ADCB8328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Section Headers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9717BCC-EECD-D3FE-8FC7-3CCACEF8A9D1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D6CBBC9-74F9-0260-FE15-AB379E4C3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918" y="968174"/>
            <a:ext cx="2787588" cy="38884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F2FEEF-2845-7919-9934-92578A229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161" y="3404884"/>
            <a:ext cx="2729712" cy="137130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FAC89E0-E5FB-724F-CFF4-EBA6D5DA93E7}"/>
              </a:ext>
            </a:extLst>
          </p:cNvPr>
          <p:cNvSpPr/>
          <p:nvPr/>
        </p:nvSpPr>
        <p:spPr>
          <a:xfrm>
            <a:off x="5783918" y="4598633"/>
            <a:ext cx="2787588" cy="257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078A9B0-2BC5-E2A2-716A-A16F9154EE87}"/>
              </a:ext>
            </a:extLst>
          </p:cNvPr>
          <p:cNvCxnSpPr>
            <a:stCxn id="8" idx="1"/>
            <a:endCxn id="7" idx="3"/>
          </p:cNvCxnSpPr>
          <p:nvPr/>
        </p:nvCxnSpPr>
        <p:spPr>
          <a:xfrm flipH="1" flipV="1">
            <a:off x="5215873" y="4090536"/>
            <a:ext cx="568045" cy="6370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033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3CDF3BC1-9CAD-46CE-3EF4-7E3D7351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EAAB600-D43F-3D98-2370-5D7499C7A8B8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33A3CB9-1835-74A8-2E30-CF8043B129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Section</a:t>
            </a:r>
            <a:r>
              <a:rPr lang="ko-KR" altLang="en-US"/>
              <a:t> </a:t>
            </a:r>
            <a:r>
              <a:rPr lang="en-US" altLang="ko-KR"/>
              <a:t>Headers::.text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B034497-A852-A342-710B-E8ECD4910F34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4991A452-3C59-8073-30D5-14E0CEAA0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95" y="1035525"/>
            <a:ext cx="5753903" cy="924054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766EBD5-DC90-7E2A-ED52-2B7F4B9E0BFD}"/>
              </a:ext>
            </a:extLst>
          </p:cNvPr>
          <p:cNvSpPr/>
          <p:nvPr/>
        </p:nvSpPr>
        <p:spPr>
          <a:xfrm>
            <a:off x="572494" y="1003547"/>
            <a:ext cx="4403911" cy="494006"/>
          </a:xfrm>
          <a:prstGeom prst="round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C8294E7-F814-1ADE-3341-0C176DF2E751}"/>
              </a:ext>
            </a:extLst>
          </p:cNvPr>
          <p:cNvCxnSpPr>
            <a:cxnSpLocks/>
          </p:cNvCxnSpPr>
          <p:nvPr/>
        </p:nvCxnSpPr>
        <p:spPr>
          <a:xfrm>
            <a:off x="3178206" y="1411550"/>
            <a:ext cx="170942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CFFEA01-E1A6-19B0-154B-C44F15C519A4}"/>
              </a:ext>
            </a:extLst>
          </p:cNvPr>
          <p:cNvCxnSpPr>
            <a:cxnSpLocks/>
          </p:cNvCxnSpPr>
          <p:nvPr/>
        </p:nvCxnSpPr>
        <p:spPr>
          <a:xfrm>
            <a:off x="5713253" y="1411550"/>
            <a:ext cx="61314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C0E0F7C-384F-FE9B-D14B-458C4F512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570327"/>
              </p:ext>
            </p:extLst>
          </p:nvPr>
        </p:nvGraphicFramePr>
        <p:xfrm>
          <a:off x="572494" y="2032842"/>
          <a:ext cx="7547028" cy="296672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668312">
                  <a:extLst>
                    <a:ext uri="{9D8B030D-6E8A-4147-A177-3AD203B41FA5}">
                      <a16:colId xmlns:a16="http://schemas.microsoft.com/office/drawing/2014/main" val="2137263210"/>
                    </a:ext>
                  </a:extLst>
                </a:gridCol>
                <a:gridCol w="461639">
                  <a:extLst>
                    <a:ext uri="{9D8B030D-6E8A-4147-A177-3AD203B41FA5}">
                      <a16:colId xmlns:a16="http://schemas.microsoft.com/office/drawing/2014/main" val="1475918832"/>
                    </a:ext>
                  </a:extLst>
                </a:gridCol>
                <a:gridCol w="1624614">
                  <a:extLst>
                    <a:ext uri="{9D8B030D-6E8A-4147-A177-3AD203B41FA5}">
                      <a16:colId xmlns:a16="http://schemas.microsoft.com/office/drawing/2014/main" val="4093516202"/>
                    </a:ext>
                  </a:extLst>
                </a:gridCol>
                <a:gridCol w="4792463">
                  <a:extLst>
                    <a:ext uri="{9D8B030D-6E8A-4147-A177-3AD203B41FA5}">
                      <a16:colId xmlns:a16="http://schemas.microsoft.com/office/drawing/2014/main" val="732985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>
                          <a:latin typeface="페이퍼로지 3 Light" pitchFamily="2" charset="-127"/>
                          <a:ea typeface="페이퍼로지 3 Light" pitchFamily="2" charset="-127"/>
                        </a:rPr>
                        <a:t>Offset</a:t>
                      </a:r>
                      <a:endParaRPr lang="ko-KR" altLang="en-US" sz="10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>
                          <a:latin typeface="페이퍼로지 3 Light" pitchFamily="2" charset="-127"/>
                          <a:ea typeface="페이퍼로지 3 Light" pitchFamily="2" charset="-127"/>
                        </a:rPr>
                        <a:t>Size</a:t>
                      </a:r>
                      <a:endParaRPr lang="ko-KR" altLang="en-US" sz="10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>
                          <a:latin typeface="페이퍼로지 3 Light" pitchFamily="2" charset="-127"/>
                          <a:ea typeface="페이퍼로지 3 Light" pitchFamily="2" charset="-127"/>
                        </a:rPr>
                        <a:t>Field</a:t>
                      </a:r>
                      <a:endParaRPr lang="ko-KR" altLang="en-US" sz="10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>
                          <a:latin typeface="페이퍼로지 3 Light" pitchFamily="2" charset="-127"/>
                          <a:ea typeface="페이퍼로지 3 Light" pitchFamily="2" charset="-127"/>
                        </a:rPr>
                        <a:t>Desc</a:t>
                      </a:r>
                      <a:endParaRPr lang="ko-KR" altLang="en-US" sz="10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29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0x200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8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Name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latin typeface="페이퍼로지 3 Light" pitchFamily="2" charset="-127"/>
                          <a:ea typeface="페이퍼로지 3 Light" pitchFamily="2" charset="-127"/>
                        </a:rPr>
                        <a:t>섹션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961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0x208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VirtualSize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latin typeface="페이퍼로지 3 Light" pitchFamily="2" charset="-127"/>
                          <a:ea typeface="페이퍼로지 3 Light" pitchFamily="2" charset="-127"/>
                        </a:rPr>
                        <a:t>메모리 크기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583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0x20C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VirtualAddr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latin typeface="페이퍼로지 3 Light" pitchFamily="2" charset="-127"/>
                          <a:ea typeface="페이퍼로지 3 Light" pitchFamily="2" charset="-127"/>
                        </a:rPr>
                        <a:t>섹션 시작 </a:t>
                      </a: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RVA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54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0x210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SizeOfRawData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latin typeface="페이퍼로지 3 Light" pitchFamily="2" charset="-127"/>
                          <a:ea typeface="페이퍼로지 3 Light" pitchFamily="2" charset="-127"/>
                        </a:rPr>
                        <a:t>파일 데이터 크기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4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0x214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PointerToRawData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latin typeface="페이퍼로지 3 Light" pitchFamily="2" charset="-127"/>
                          <a:ea typeface="페이퍼로지 3 Light" pitchFamily="2" charset="-127"/>
                        </a:rPr>
                        <a:t>데이터 시작 파일 오프셋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387588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... COFF </a:t>
                      </a:r>
                      <a:r>
                        <a:rPr lang="ko-KR" altLang="en-US" sz="1000">
                          <a:latin typeface="페이퍼로지 3 Light" pitchFamily="2" charset="-127"/>
                          <a:ea typeface="페이퍼로지 3 Light" pitchFamily="2" charset="-127"/>
                        </a:rPr>
                        <a:t>관련 정보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606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0x224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Characteristics</a:t>
                      </a:r>
                      <a:endParaRPr lang="ko-KR" altLang="en-US" sz="10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latin typeface="페이퍼로지 3 Light" pitchFamily="2" charset="-127"/>
                          <a:ea typeface="페이퍼로지 3 Light" pitchFamily="2" charset="-127"/>
                        </a:rPr>
                        <a:t>메모리 속성</a:t>
                      </a: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1000">
                          <a:latin typeface="페이퍼로지 3 Light" pitchFamily="2" charset="-127"/>
                          <a:ea typeface="페이퍼로지 3 Light" pitchFamily="2" charset="-127"/>
                        </a:rPr>
                        <a:t>내용 종류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7433"/>
                  </a:ext>
                </a:extLst>
              </a:tr>
            </a:tbl>
          </a:graphicData>
        </a:graphic>
      </p:graphicFrame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BAA5B2B-1290-ACA3-6608-7B9E5877FFBF}"/>
              </a:ext>
            </a:extLst>
          </p:cNvPr>
          <p:cNvCxnSpPr>
            <a:cxnSpLocks/>
          </p:cNvCxnSpPr>
          <p:nvPr/>
        </p:nvCxnSpPr>
        <p:spPr>
          <a:xfrm>
            <a:off x="4092605" y="1171853"/>
            <a:ext cx="866044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41258F46-CA0F-7418-F414-36925EC63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557" y="1247568"/>
            <a:ext cx="3985691" cy="321168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9A5879B-2B21-9D40-F921-B44D2F336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521" y="1604827"/>
            <a:ext cx="6496957" cy="1933845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06FF85C-51C7-288E-F03A-0B3E9E3DBDE3}"/>
              </a:ext>
            </a:extLst>
          </p:cNvPr>
          <p:cNvCxnSpPr>
            <a:cxnSpLocks/>
          </p:cNvCxnSpPr>
          <p:nvPr/>
        </p:nvCxnSpPr>
        <p:spPr>
          <a:xfrm>
            <a:off x="3178206" y="1173334"/>
            <a:ext cx="866044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6E0989D-47A7-EC3F-7274-CFB436171834}"/>
              </a:ext>
            </a:extLst>
          </p:cNvPr>
          <p:cNvCxnSpPr>
            <a:cxnSpLocks/>
          </p:cNvCxnSpPr>
          <p:nvPr/>
        </p:nvCxnSpPr>
        <p:spPr>
          <a:xfrm>
            <a:off x="2247530" y="1325734"/>
            <a:ext cx="866044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97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6003E85-FD42-CFFE-90F5-73D181678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7370093-A725-4AA4-2044-AAA73E9E678F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F34CDA9-74CC-A438-132F-0E92E8FA08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Data directories</a:t>
            </a:r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2D07FB-7195-0813-07A6-8BEDA8450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12" y="0"/>
            <a:ext cx="2584275" cy="5143500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DD107F8-88AC-C271-06DA-17301619138F}"/>
              </a:ext>
            </a:extLst>
          </p:cNvPr>
          <p:cNvCxnSpPr/>
          <p:nvPr/>
        </p:nvCxnSpPr>
        <p:spPr>
          <a:xfrm>
            <a:off x="3090863" y="4495799"/>
            <a:ext cx="2967037" cy="0"/>
          </a:xfrm>
          <a:prstGeom prst="line">
            <a:avLst/>
          </a:prstGeom>
          <a:ln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102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D8EE2D9-0D40-DE0E-5234-5A933155E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FCB95A4-89DA-A2AB-F7A5-23C4F5088AE9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F3D9D8-0D89-9049-0192-E89429F2B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688" y="301054"/>
            <a:ext cx="5791200" cy="3333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67BD56-D6C4-B698-6DDD-21681274F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345" y="1011676"/>
            <a:ext cx="4286333" cy="350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42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889641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599"/>
              <a:t>Thank you</a:t>
            </a:r>
            <a:endParaRPr sz="3599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13_Hash</Template>
  <TotalTime>4998</TotalTime>
  <Words>1040</Words>
  <Application>Microsoft Office PowerPoint</Application>
  <PresentationFormat>화면 슬라이드 쇼(16:9)</PresentationFormat>
  <Paragraphs>290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페이퍼로지 3 Light</vt:lpstr>
      <vt:lpstr>페이퍼로지 5 Medium</vt:lpstr>
      <vt:lpstr>페이퍼로지 1 Thin</vt:lpstr>
      <vt:lpstr>Arial</vt:lpstr>
      <vt:lpstr>맑은 고딕</vt:lpstr>
      <vt:lpstr>페이퍼로지 6 SemiBold</vt:lpstr>
      <vt:lpstr>페이퍼로지 4 Regular</vt:lpstr>
      <vt:lpstr>페이퍼로지 2 ExtraLight</vt:lpstr>
      <vt:lpstr>Montserrat</vt:lpstr>
      <vt:lpstr>Montserrat Medium</vt:lpstr>
      <vt:lpstr>Energy Infographics by Slidesgo</vt:lpstr>
      <vt:lpstr>PE</vt:lpstr>
      <vt:lpstr>Overview</vt:lpstr>
      <vt:lpstr>General Concepts</vt:lpstr>
      <vt:lpstr>target: CaptainHook.exe</vt:lpstr>
      <vt:lpstr>File Headers</vt:lpstr>
      <vt:lpstr>COFF File Header contents</vt:lpstr>
      <vt:lpstr>Optional Header contents [ 0x0110~0x01FF ]</vt:lpstr>
      <vt:lpstr>Optional Header contents [ 0x0110~0x01FF ]</vt:lpstr>
      <vt:lpstr>OptHed::WinSpF::ImageBase(oft: 0x0)</vt:lpstr>
      <vt:lpstr>OptHead::Data directories</vt:lpstr>
      <vt:lpstr>OptHead::DataDir::import table</vt:lpstr>
      <vt:lpstr>Section Headers</vt:lpstr>
      <vt:lpstr>Section Headers::.text</vt:lpstr>
      <vt:lpstr>Data directories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박세원</dc:creator>
  <cp:lastModifiedBy>박세원</cp:lastModifiedBy>
  <cp:revision>1031</cp:revision>
  <dcterms:created xsi:type="dcterms:W3CDTF">2026-02-25T09:00:40Z</dcterms:created>
  <dcterms:modified xsi:type="dcterms:W3CDTF">2026-10-15T09:25:49Z</dcterms:modified>
</cp:coreProperties>
</file>